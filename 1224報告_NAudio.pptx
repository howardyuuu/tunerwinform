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59" r:id="rId4"/>
    <p:sldId id="260" r:id="rId5"/>
    <p:sldId id="271" r:id="rId6"/>
    <p:sldId id="273" r:id="rId7"/>
    <p:sldId id="258" r:id="rId8"/>
    <p:sldId id="279" r:id="rId9"/>
    <p:sldId id="278" r:id="rId10"/>
    <p:sldId id="270" r:id="rId11"/>
    <p:sldId id="277" r:id="rId12"/>
    <p:sldId id="264" r:id="rId13"/>
    <p:sldId id="262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285" autoAdjust="0"/>
  </p:normalViewPr>
  <p:slideViewPr>
    <p:cSldViewPr snapToGrid="0">
      <p:cViewPr varScale="1">
        <p:scale>
          <a:sx n="90" d="100"/>
          <a:sy n="90" d="100"/>
        </p:scale>
        <p:origin x="1356" y="96"/>
      </p:cViewPr>
      <p:guideLst/>
    </p:cSldViewPr>
  </p:slideViewPr>
  <p:notesTextViewPr>
    <p:cViewPr>
      <p:scale>
        <a:sx n="3" d="2"/>
        <a:sy n="3" d="2"/>
      </p:scale>
      <p:origin x="0" y="-31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發想：</a:t>
            </a:r>
            <a:br>
              <a:rPr lang="en-US" altLang="zh-TW" dirty="0"/>
            </a:br>
            <a:r>
              <a:rPr lang="zh-TW" altLang="en-US" dirty="0"/>
              <a:t>原本是想做關於能分析歌曲調性的技術</a:t>
            </a:r>
            <a:br>
              <a:rPr lang="en-US" altLang="zh-TW" dirty="0"/>
            </a:br>
            <a:r>
              <a:rPr lang="zh-TW" altLang="en-US" dirty="0"/>
              <a:t>但發現涉及到的技術頗複雜</a:t>
            </a:r>
            <a:r>
              <a:rPr lang="en-US" altLang="zh-TW" dirty="0"/>
              <a:t>(FT)</a:t>
            </a:r>
            <a:br>
              <a:rPr lang="en-US" altLang="zh-TW" dirty="0"/>
            </a:br>
            <a:r>
              <a:rPr lang="zh-TW" altLang="en-US" dirty="0"/>
              <a:t>數學能力退步了</a:t>
            </a:r>
            <a:r>
              <a:rPr lang="en-US" altLang="zh-TW" dirty="0"/>
              <a:t>XD</a:t>
            </a:r>
          </a:p>
          <a:p>
            <a:r>
              <a:rPr lang="zh-TW" altLang="en-US" dirty="0"/>
              <a:t>所以改為做分析單一音頻高低</a:t>
            </a:r>
            <a:endParaRPr lang="en-US" altLang="zh-TW" dirty="0"/>
          </a:p>
          <a:p>
            <a:r>
              <a:rPr lang="zh-TW" altLang="en-US" dirty="0"/>
              <a:t>以及音頻播放功能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16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為何會選擇這個套件：</a:t>
            </a:r>
            <a:endParaRPr lang="en-US" altLang="zh-TW" dirty="0"/>
          </a:p>
          <a:p>
            <a:r>
              <a:rPr lang="en-US" altLang="zh-TW" dirty="0"/>
              <a:t>1.</a:t>
            </a:r>
            <a:r>
              <a:rPr lang="zh-TW" altLang="en-US" dirty="0"/>
              <a:t> 免費開源</a:t>
            </a:r>
            <a:r>
              <a:rPr lang="en-US" altLang="zh-TW" dirty="0"/>
              <a:t>,</a:t>
            </a:r>
            <a:r>
              <a:rPr lang="zh-TW" altLang="en-US" dirty="0"/>
              <a:t>技術成熟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 幾乎能處理音訊處裡各種方面</a:t>
            </a:r>
            <a:endParaRPr lang="en-US" altLang="zh-TW" dirty="0"/>
          </a:p>
          <a:p>
            <a:r>
              <a:rPr lang="en-US" altLang="zh-TW" dirty="0"/>
              <a:t>3.</a:t>
            </a:r>
            <a:r>
              <a:rPr lang="zh-TW" altLang="en-US" dirty="0"/>
              <a:t> </a:t>
            </a:r>
            <a:r>
              <a:rPr lang="en-US" altLang="zh-TW" dirty="0"/>
              <a:t>API</a:t>
            </a:r>
            <a:r>
              <a:rPr lang="zh-TW" altLang="en-US" dirty="0"/>
              <a:t>被封裝得很簡單</a:t>
            </a:r>
            <a:r>
              <a:rPr lang="en-US" altLang="zh-TW" dirty="0"/>
              <a:t>,</a:t>
            </a:r>
            <a:r>
              <a:rPr lang="zh-TW" altLang="en-US" dirty="0"/>
              <a:t>易上手</a:t>
            </a:r>
            <a:endParaRPr lang="en-US" altLang="zh-TW" dirty="0"/>
          </a:p>
          <a:p>
            <a:r>
              <a:rPr lang="en-US" altLang="zh-TW" dirty="0"/>
              <a:t>4.</a:t>
            </a:r>
            <a:r>
              <a:rPr lang="zh-TW" altLang="en-US" dirty="0"/>
              <a:t> 教學文件詳細清楚</a:t>
            </a:r>
            <a:br>
              <a:rPr lang="en-US" altLang="zh-TW" dirty="0"/>
            </a:br>
            <a:r>
              <a:rPr lang="zh-TW" altLang="en-US" dirty="0"/>
              <a:t>用到：</a:t>
            </a:r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</a:t>
            </a:r>
            <a:r>
              <a:rPr lang="en-US" altLang="zh-TW" dirty="0" err="1"/>
              <a:t>WaveInEvent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收音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 </a:t>
            </a:r>
            <a:r>
              <a:rPr lang="en-US" altLang="zh-TW" dirty="0" err="1"/>
              <a:t>WaveOutEvent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放音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3. </a:t>
            </a:r>
            <a:r>
              <a:rPr lang="en-US" altLang="zh-TW" dirty="0" err="1"/>
              <a:t>BufferedWaveProvider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即時緩衝區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6565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p</a:t>
            </a:r>
            <a:r>
              <a:rPr lang="zh-TW" altLang="en-US" dirty="0"/>
              <a:t>公式為</a:t>
            </a:r>
            <a:r>
              <a:rPr lang="en-US" altLang="zh-TW" dirty="0"/>
              <a:t>MIDI</a:t>
            </a:r>
            <a:r>
              <a:rPr lang="zh-TW" altLang="en-US" dirty="0"/>
              <a:t>所提出的標準協定公式</a:t>
            </a:r>
            <a:endParaRPr lang="en-US" altLang="zh-TW" dirty="0"/>
          </a:p>
          <a:p>
            <a:r>
              <a:rPr lang="en-US" altLang="zh-TW" dirty="0"/>
              <a:t>12</a:t>
            </a:r>
            <a:r>
              <a:rPr lang="zh-TW" altLang="en-US" dirty="0"/>
              <a:t>平均律的起源為人耳的分辨率和諧度</a:t>
            </a:r>
            <a:br>
              <a:rPr lang="en-US" altLang="zh-TW" dirty="0"/>
            </a:br>
            <a:r>
              <a:rPr lang="zh-TW" altLang="en-US" dirty="0"/>
              <a:t>同樣聽</a:t>
            </a:r>
            <a:r>
              <a:rPr lang="en-US" altLang="zh-TW" dirty="0"/>
              <a:t>A3(220</a:t>
            </a:r>
            <a:r>
              <a:rPr lang="zh-TW" altLang="en-US" dirty="0"/>
              <a:t> </a:t>
            </a:r>
            <a:r>
              <a:rPr lang="en-US" altLang="zh-TW" dirty="0"/>
              <a:t>Hz), A4(440 Hz), A5(880</a:t>
            </a:r>
            <a:r>
              <a:rPr lang="zh-TW" altLang="en-US" dirty="0"/>
              <a:t> </a:t>
            </a:r>
            <a:r>
              <a:rPr lang="en-US" altLang="zh-TW" dirty="0"/>
              <a:t>Hz)</a:t>
            </a:r>
          </a:p>
          <a:p>
            <a:r>
              <a:rPr lang="zh-TW" altLang="en-US" dirty="0"/>
              <a:t>會發現雖然</a:t>
            </a:r>
            <a:r>
              <a:rPr lang="en-US" altLang="zh-TW" dirty="0"/>
              <a:t>A3-A4, A4-A5</a:t>
            </a:r>
            <a:r>
              <a:rPr lang="zh-TW" altLang="en-US" dirty="0"/>
              <a:t>聽起來音程差似乎是一樣的都是差八度</a:t>
            </a:r>
            <a:endParaRPr lang="en-US" altLang="zh-TW" dirty="0"/>
          </a:p>
          <a:p>
            <a:r>
              <a:rPr lang="zh-TW" altLang="en-US" dirty="0"/>
              <a:t>但實際上</a:t>
            </a:r>
            <a:r>
              <a:rPr lang="en-US" altLang="zh-TW" dirty="0"/>
              <a:t>A4-A5</a:t>
            </a:r>
            <a:r>
              <a:rPr lang="zh-TW" altLang="en-US" dirty="0"/>
              <a:t>的頻率差是</a:t>
            </a:r>
            <a:r>
              <a:rPr lang="en-US" altLang="zh-TW" dirty="0"/>
              <a:t>A3-A4</a:t>
            </a:r>
            <a:r>
              <a:rPr lang="zh-TW" altLang="en-US" dirty="0"/>
              <a:t>的兩倍</a:t>
            </a:r>
            <a:br>
              <a:rPr lang="en-US" altLang="zh-TW" dirty="0"/>
            </a:br>
            <a:r>
              <a:rPr lang="zh-TW" altLang="en-US" dirty="0"/>
              <a:t>也就是說在單位時間如果想要讓音高聽起來是線性升高</a:t>
            </a:r>
            <a:endParaRPr lang="en-US" altLang="zh-TW" dirty="0"/>
          </a:p>
          <a:p>
            <a:r>
              <a:rPr lang="zh-TW" altLang="en-US" dirty="0"/>
              <a:t>則頻率要對數增加</a:t>
            </a:r>
            <a:br>
              <a:rPr lang="en-US" altLang="zh-TW" dirty="0"/>
            </a:br>
            <a:r>
              <a:rPr lang="en-US" altLang="zh-TW" dirty="0"/>
              <a:t>“</a:t>
            </a:r>
            <a:r>
              <a:rPr lang="zh-TW" altLang="en-US" dirty="0"/>
              <a:t>十二平均律</a:t>
            </a:r>
            <a:r>
              <a:rPr lang="en-US" altLang="zh-TW" dirty="0"/>
              <a:t>”</a:t>
            </a:r>
            <a:r>
              <a:rPr lang="zh-TW" altLang="en-US" dirty="0"/>
              <a:t>是人耳感知力，物理學，數學之間和諧的結果，也使移調操作變得方便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音高只跟物體物理特性有關  跟能量無關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78501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：</a:t>
            </a:r>
            <a:r>
              <a:rPr lang="en-US" altLang="zh-TW" dirty="0"/>
              <a:t>Sharpe</a:t>
            </a:r>
          </a:p>
          <a:p>
            <a:r>
              <a:rPr lang="en-US" altLang="zh-TW" dirty="0"/>
              <a:t>b</a:t>
            </a:r>
            <a:r>
              <a:rPr lang="zh-TW" altLang="en-US" dirty="0"/>
              <a:t>：</a:t>
            </a:r>
            <a:r>
              <a:rPr lang="en-US" altLang="zh-TW" dirty="0"/>
              <a:t>Flat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實際物體發出的泛音不會剛好是基頻整數倍</a:t>
            </a:r>
            <a:b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會受到材質，物理特性影響</a:t>
            </a:r>
            <a:b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en-US" altLang="zh-TW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ex: </a:t>
            </a:r>
            <a:r>
              <a:rPr lang="zh-TW" altLang="en-US" sz="12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2085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GetCapabilities</a:t>
            </a:r>
            <a:r>
              <a:rPr lang="zh-TW" altLang="en-US" dirty="0"/>
              <a:t>：這個方法</a:t>
            </a:r>
            <a:r>
              <a:rPr lang="en-US" altLang="zh-TW" dirty="0"/>
              <a:t>return</a:t>
            </a:r>
            <a:r>
              <a:rPr lang="zh-TW" altLang="en-US" dirty="0"/>
              <a:t>目前電腦有哪些收音設備</a:t>
            </a:r>
            <a:endParaRPr lang="en-US" altLang="zh-TW" dirty="0"/>
          </a:p>
          <a:p>
            <a:r>
              <a:rPr lang="en-US" altLang="zh-TW" dirty="0" err="1"/>
              <a:t>WaveInEvent</a:t>
            </a:r>
            <a:r>
              <a:rPr lang="zh-TW" altLang="en-US" dirty="0"/>
              <a:t>：傳入收音設備</a:t>
            </a:r>
            <a:r>
              <a:rPr lang="en-US" altLang="zh-TW" dirty="0"/>
              <a:t>Index</a:t>
            </a:r>
            <a:r>
              <a:rPr lang="zh-TW" altLang="en-US" dirty="0"/>
              <a:t>值建立收音物件</a:t>
            </a:r>
            <a:endParaRPr lang="en-US" altLang="zh-TW" dirty="0"/>
          </a:p>
          <a:p>
            <a:r>
              <a:rPr lang="en-US" altLang="zh-TW" dirty="0" err="1"/>
              <a:t>WaveFormat</a:t>
            </a:r>
            <a:r>
              <a:rPr lang="zh-TW" altLang="en-US" dirty="0"/>
              <a:t>：設定收音格式</a:t>
            </a:r>
            <a:br>
              <a:rPr lang="en-US" altLang="zh-TW" dirty="0"/>
            </a:br>
            <a:r>
              <a:rPr lang="en-US" altLang="zh-TW" dirty="0" err="1"/>
              <a:t>DataAvailable</a:t>
            </a:r>
            <a:r>
              <a:rPr lang="zh-TW" altLang="en-US" dirty="0"/>
              <a:t>：訂閱自訂分析頻率方法</a:t>
            </a:r>
            <a:endParaRPr lang="en-US" altLang="zh-TW" dirty="0"/>
          </a:p>
          <a:p>
            <a:r>
              <a:rPr lang="en-US" altLang="zh-TW" dirty="0" err="1"/>
              <a:t>bwProvider</a:t>
            </a:r>
            <a:r>
              <a:rPr lang="zh-TW" altLang="en-US" dirty="0"/>
              <a:t>：緩衝區 可限制收音位元區塊大小 超過就會</a:t>
            </a:r>
            <a:endParaRPr lang="en-US" altLang="zh-TW" dirty="0"/>
          </a:p>
          <a:p>
            <a:r>
              <a:rPr lang="en-US" altLang="zh-TW" dirty="0" err="1"/>
              <a:t>StartRecording</a:t>
            </a:r>
            <a:r>
              <a:rPr lang="zh-TW" altLang="en-US" dirty="0"/>
              <a:t>：執行所有訂閱方法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591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處理邏輯</a:t>
            </a:r>
            <a:r>
              <a:rPr lang="en-US" altLang="zh-TW" dirty="0"/>
              <a:t>(</a:t>
            </a:r>
            <a:r>
              <a:rPr lang="zh-TW" altLang="en-US" dirty="0"/>
              <a:t>左</a:t>
            </a:r>
            <a:r>
              <a:rPr lang="en-US" altLang="zh-TW" dirty="0"/>
              <a:t>)</a:t>
            </a:r>
            <a:r>
              <a:rPr lang="zh-TW" altLang="en-US" dirty="0"/>
              <a:t>：</a:t>
            </a:r>
            <a:endParaRPr lang="en-US" altLang="zh-TW" dirty="0"/>
          </a:p>
          <a:p>
            <a:r>
              <a:rPr lang="zh-TW" altLang="en-US" dirty="0"/>
              <a:t>將</a:t>
            </a:r>
            <a:r>
              <a:rPr lang="en-US" altLang="zh-TW" dirty="0" err="1"/>
              <a:t>WaveInEvent</a:t>
            </a:r>
            <a:r>
              <a:rPr lang="zh-TW" altLang="en-US" dirty="0"/>
              <a:t>測量到的</a:t>
            </a:r>
            <a:r>
              <a:rPr lang="en-US" altLang="zh-TW" dirty="0"/>
              <a:t>Frequency</a:t>
            </a:r>
            <a:r>
              <a:rPr lang="zh-TW" altLang="en-US" dirty="0"/>
              <a:t>傳給這個方法</a:t>
            </a:r>
            <a:br>
              <a:rPr lang="en-US" altLang="zh-TW" dirty="0"/>
            </a:br>
            <a:r>
              <a:rPr lang="zh-TW" altLang="en-US" dirty="0"/>
              <a:t>這個方法會先</a:t>
            </a:r>
            <a:r>
              <a:rPr lang="en-US" altLang="zh-TW" dirty="0"/>
              <a:t>Foreach</a:t>
            </a:r>
            <a:r>
              <a:rPr lang="zh-TW" altLang="en-US" dirty="0"/>
              <a:t>整個基頻定義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然後在把</a:t>
            </a:r>
            <a:r>
              <a:rPr lang="en-US" altLang="zh-TW" dirty="0"/>
              <a:t>Frequency</a:t>
            </a:r>
            <a:r>
              <a:rPr lang="zh-TW" altLang="en-US" dirty="0"/>
              <a:t>跟基頻</a:t>
            </a:r>
            <a:r>
              <a:rPr lang="en-US" altLang="zh-TW" dirty="0"/>
              <a:t>(</a:t>
            </a:r>
            <a:r>
              <a:rPr lang="zh-TW" altLang="en-US" dirty="0"/>
              <a:t>例如 </a:t>
            </a:r>
            <a:r>
              <a:rPr lang="en-US" altLang="zh-TW" dirty="0"/>
              <a:t>C0)</a:t>
            </a:r>
            <a:r>
              <a:rPr lang="zh-TW" altLang="en-US" dirty="0"/>
              <a:t>做音程差計算</a:t>
            </a:r>
            <a:br>
              <a:rPr lang="en-US" altLang="zh-TW" dirty="0"/>
            </a:br>
            <a:r>
              <a:rPr lang="zh-TW" altLang="en-US" dirty="0"/>
              <a:t>找基頻定義的第一個 </a:t>
            </a:r>
            <a:r>
              <a:rPr lang="en-US" altLang="zh-TW" dirty="0"/>
              <a:t>key &amp; value pair  </a:t>
            </a:r>
            <a:r>
              <a:rPr lang="zh-TW" altLang="en-US" dirty="0"/>
              <a:t>如果音程差</a:t>
            </a:r>
            <a:r>
              <a:rPr lang="en-US" altLang="zh-TW" dirty="0"/>
              <a:t>&gt;50</a:t>
            </a:r>
            <a:r>
              <a:rPr lang="zh-TW" altLang="en-US" dirty="0"/>
              <a:t>或</a:t>
            </a:r>
            <a:r>
              <a:rPr lang="en-US" altLang="zh-TW" dirty="0"/>
              <a:t>&lt;-50(cent)</a:t>
            </a:r>
            <a:r>
              <a:rPr lang="zh-TW" altLang="en-US" dirty="0"/>
              <a:t>就將基頻翻倍跟下一個八度的音</a:t>
            </a:r>
            <a:r>
              <a:rPr lang="en-US" altLang="zh-TW" dirty="0"/>
              <a:t>(</a:t>
            </a:r>
            <a:r>
              <a:rPr lang="zh-TW" altLang="en-US" dirty="0"/>
              <a:t>例如 </a:t>
            </a:r>
            <a:r>
              <a:rPr lang="en-US" altLang="zh-TW" dirty="0"/>
              <a:t>C1)</a:t>
            </a:r>
            <a:r>
              <a:rPr lang="zh-TW" altLang="en-US" dirty="0"/>
              <a:t>做計算</a:t>
            </a:r>
            <a:br>
              <a:rPr lang="en-US" altLang="zh-TW" dirty="0"/>
            </a:br>
            <a:r>
              <a:rPr lang="zh-TW" altLang="en-US" dirty="0"/>
              <a:t>直到找到音程差介於</a:t>
            </a:r>
            <a:r>
              <a:rPr lang="en-US" altLang="zh-TW" dirty="0"/>
              <a:t>-50~50(cent)</a:t>
            </a:r>
            <a:r>
              <a:rPr lang="zh-TW" altLang="en-US" dirty="0"/>
              <a:t>之間，即為找到該頻率</a:t>
            </a:r>
            <a:br>
              <a:rPr lang="en-US" altLang="zh-TW" dirty="0"/>
            </a:br>
            <a:r>
              <a:rPr lang="zh-TW" altLang="en-US" dirty="0"/>
              <a:t>注意：先對比所有八度的同一音名，才會對比下一個音名</a:t>
            </a:r>
            <a:br>
              <a:rPr lang="en-US" altLang="zh-TW" dirty="0"/>
            </a:br>
            <a:r>
              <a:rPr lang="en-US" altLang="zh-TW" dirty="0"/>
              <a:t>chat</a:t>
            </a:r>
            <a:r>
              <a:rPr lang="zh-TW" altLang="en-US" dirty="0"/>
              <a:t> </a:t>
            </a:r>
            <a:r>
              <a:rPr lang="en-US" altLang="zh-TW" dirty="0" err="1"/>
              <a:t>gpt</a:t>
            </a:r>
            <a:r>
              <a:rPr lang="zh-TW" altLang="en-US" dirty="0"/>
              <a:t> 給的</a:t>
            </a:r>
            <a:r>
              <a:rPr lang="en-US" altLang="zh-TW" dirty="0"/>
              <a:t>(</a:t>
            </a:r>
            <a:r>
              <a:rPr lang="zh-TW" altLang="en-US" dirty="0"/>
              <a:t>右</a:t>
            </a:r>
            <a:r>
              <a:rPr lang="en-US" altLang="zh-TW" dirty="0"/>
              <a:t>)</a:t>
            </a:r>
            <a:r>
              <a:rPr lang="zh-TW" altLang="en-US" dirty="0"/>
              <a:t>則相反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如果目標音頻較低：</a:t>
            </a:r>
            <a:br>
              <a:rPr lang="en-US" altLang="zh-TW" dirty="0"/>
            </a:br>
            <a:r>
              <a:rPr lang="zh-TW" altLang="en-US" b="1" dirty="0"/>
              <a:t>方法 </a:t>
            </a:r>
            <a:r>
              <a:rPr lang="en-US" altLang="zh-TW" b="1" dirty="0"/>
              <a:t>1</a:t>
            </a:r>
            <a:r>
              <a:rPr lang="zh-TW" altLang="en-US" dirty="0"/>
              <a:t>（先找八度）更快，因為它能快速退出外層八度循環。</a:t>
            </a:r>
          </a:p>
          <a:p>
            <a:pPr>
              <a:buFont typeface="Arial" panose="020B0604020202020204" pitchFamily="34" charset="0"/>
              <a:buNone/>
            </a:pPr>
            <a:r>
              <a:rPr lang="zh-TW" altLang="en-US" b="1" dirty="0"/>
              <a:t>方法 </a:t>
            </a:r>
            <a:r>
              <a:rPr lang="en-US" altLang="zh-TW" b="1" dirty="0"/>
              <a:t>2</a:t>
            </a:r>
            <a:r>
              <a:rPr lang="zh-TW" altLang="en-US" dirty="0"/>
              <a:t>（先找音）會先遍歷完整個音名集合，可能多做一些不必要的計算。</a:t>
            </a:r>
          </a:p>
          <a:p>
            <a:pPr>
              <a:buFont typeface="Arial" panose="020B0604020202020204" pitchFamily="34" charset="0"/>
              <a:buNone/>
            </a:pPr>
            <a:r>
              <a:rPr lang="zh-TW" altLang="en-US" dirty="0"/>
              <a:t>如果目標音頻較高：</a:t>
            </a:r>
            <a:br>
              <a:rPr lang="en-US" altLang="zh-TW" dirty="0"/>
            </a:br>
            <a:r>
              <a:rPr lang="zh-TW" altLang="en-US" b="1" dirty="0"/>
              <a:t>方法 </a:t>
            </a:r>
            <a:r>
              <a:rPr lang="en-US" altLang="zh-TW" b="1" dirty="0"/>
              <a:t>2</a:t>
            </a:r>
            <a:r>
              <a:rPr lang="zh-TW" altLang="en-US" dirty="0"/>
              <a:t> 可能稍快，因為它能快速遍歷較高音頻的八度集合。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5925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吉他調音</a:t>
            </a:r>
            <a:endParaRPr lang="en-US" altLang="zh-TW" dirty="0"/>
          </a:p>
          <a:p>
            <a:r>
              <a:rPr lang="zh-TW" altLang="en-US" dirty="0"/>
              <a:t>一般市面上的調音器</a:t>
            </a:r>
            <a:br>
              <a:rPr lang="en-US" altLang="zh-TW" dirty="0"/>
            </a:br>
            <a:r>
              <a:rPr lang="zh-TW" altLang="en-US" dirty="0"/>
              <a:t>準度大概都在</a:t>
            </a:r>
            <a:r>
              <a:rPr lang="en-US" altLang="zh-TW" dirty="0"/>
              <a:t>+-50</a:t>
            </a:r>
            <a:r>
              <a:rPr lang="zh-TW" altLang="en-US" dirty="0"/>
              <a:t>音分以內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9395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安靜環境下的人聲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6081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一般環境下</a:t>
            </a:r>
            <a:endParaRPr lang="en-US" altLang="zh-TW" dirty="0"/>
          </a:p>
          <a:p>
            <a:r>
              <a:rPr lang="zh-TW" altLang="en-US" dirty="0"/>
              <a:t>容易收到高頻的音</a:t>
            </a:r>
            <a:br>
              <a:rPr lang="en-US" altLang="zh-TW" dirty="0"/>
            </a:br>
            <a:r>
              <a:rPr lang="zh-TW" altLang="en-US" dirty="0"/>
              <a:t>需要透過濾波才能解決</a:t>
            </a:r>
            <a:endParaRPr lang="en-US" altLang="zh-TW" dirty="0"/>
          </a:p>
          <a:p>
            <a:r>
              <a:rPr lang="zh-TW" altLang="en-US" dirty="0"/>
              <a:t>濾波主要有兩種方式：</a:t>
            </a:r>
            <a:endParaRPr lang="en-US" altLang="zh-TW" dirty="0"/>
          </a:p>
          <a:p>
            <a:r>
              <a:rPr lang="en-US" altLang="zh-TW" dirty="0"/>
              <a:t>1.</a:t>
            </a:r>
            <a:r>
              <a:rPr lang="zh-TW" altLang="en-US" dirty="0"/>
              <a:t> 直接設閥值 </a:t>
            </a:r>
            <a:r>
              <a:rPr lang="en-US" altLang="zh-TW" dirty="0"/>
              <a:t>2.</a:t>
            </a:r>
            <a:r>
              <a:rPr lang="zh-TW" altLang="en-US" dirty="0"/>
              <a:t> 傅立葉轉換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6005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WaveOutEvent</a:t>
            </a:r>
            <a:r>
              <a:rPr lang="zh-TW" altLang="en-US" dirty="0"/>
              <a:t>：傳入放音設備</a:t>
            </a:r>
            <a:r>
              <a:rPr lang="en-US" altLang="zh-TW" dirty="0"/>
              <a:t>index</a:t>
            </a:r>
            <a:r>
              <a:rPr lang="zh-TW" altLang="en-US" dirty="0"/>
              <a:t>值建立放音物件</a:t>
            </a:r>
            <a:endParaRPr lang="en-US" altLang="zh-TW" dirty="0"/>
          </a:p>
          <a:p>
            <a:r>
              <a:rPr lang="en-US" altLang="zh-TW" dirty="0" err="1"/>
              <a:t>SignalGenerator</a:t>
            </a:r>
            <a:r>
              <a:rPr lang="zh-TW" altLang="en-US" dirty="0"/>
              <a:t>：訊號產生器</a:t>
            </a:r>
            <a:r>
              <a:rPr lang="en-US" altLang="zh-TW" dirty="0"/>
              <a:t>, </a:t>
            </a:r>
            <a:r>
              <a:rPr lang="zh-TW" altLang="en-US" dirty="0"/>
              <a:t>設定波型</a:t>
            </a:r>
            <a:r>
              <a:rPr lang="en-US" altLang="zh-TW" dirty="0"/>
              <a:t>(Sin </a:t>
            </a:r>
            <a:r>
              <a:rPr lang="zh-TW" altLang="en-US" dirty="0"/>
              <a:t>正弦波</a:t>
            </a:r>
            <a:r>
              <a:rPr lang="en-US" altLang="zh-TW" dirty="0"/>
              <a:t>)</a:t>
            </a:r>
          </a:p>
          <a:p>
            <a:r>
              <a:rPr lang="en-US" altLang="zh-TW" dirty="0" err="1"/>
              <a:t>fn</a:t>
            </a:r>
            <a:r>
              <a:rPr lang="en-US" altLang="zh-TW" dirty="0"/>
              <a:t> = f0 * 2^n</a:t>
            </a:r>
            <a:br>
              <a:rPr lang="en-US" altLang="zh-TW" dirty="0"/>
            </a:br>
            <a:r>
              <a:rPr lang="zh-TW" altLang="en-US" dirty="0"/>
              <a:t>做成鋼琴只是示意音高</a:t>
            </a:r>
            <a:br>
              <a:rPr lang="en-US" altLang="zh-TW" dirty="0"/>
            </a:br>
            <a:r>
              <a:rPr lang="zh-TW" altLang="en-US" dirty="0"/>
              <a:t>實際上如果要發出類似鋼琴的聲音</a:t>
            </a:r>
            <a:br>
              <a:rPr lang="en-US" altLang="zh-TW" dirty="0"/>
            </a:br>
            <a:r>
              <a:rPr lang="zh-TW" altLang="en-US" dirty="0"/>
              <a:t>就要先準備每個音的</a:t>
            </a:r>
            <a:r>
              <a:rPr lang="en-US" altLang="zh-TW" dirty="0"/>
              <a:t>.wav</a:t>
            </a:r>
            <a:r>
              <a:rPr lang="zh-TW" altLang="en-US" dirty="0"/>
              <a:t>檔</a:t>
            </a:r>
            <a:endParaRPr lang="en-US" altLang="zh-TW" dirty="0"/>
          </a:p>
          <a:p>
            <a:r>
              <a:rPr lang="zh-TW" altLang="en-US" dirty="0"/>
              <a:t>在用</a:t>
            </a:r>
            <a:r>
              <a:rPr lang="en-US" altLang="zh-TW" dirty="0" err="1"/>
              <a:t>WaveOutEvent</a:t>
            </a:r>
            <a:r>
              <a:rPr lang="zh-TW" altLang="en-US" dirty="0"/>
              <a:t>事件播放相對應音高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5734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音分範圍：</a:t>
            </a:r>
            <a:r>
              <a:rPr lang="en-US" altLang="zh-TW" dirty="0"/>
              <a:t>50</a:t>
            </a:r>
            <a:r>
              <a:rPr lang="zh-TW" altLang="en-US" dirty="0"/>
              <a:t> </a:t>
            </a:r>
            <a:r>
              <a:rPr lang="en-US" altLang="zh-TW" dirty="0"/>
              <a:t>cents</a:t>
            </a:r>
            <a:br>
              <a:rPr lang="en-US" altLang="zh-TW" dirty="0"/>
            </a:br>
            <a:r>
              <a:rPr lang="zh-TW" altLang="en-US" dirty="0"/>
              <a:t>之後有閒暇時間的話想要做能夠隨機發出音頻</a:t>
            </a:r>
            <a:br>
              <a:rPr lang="en-US" altLang="zh-TW" dirty="0"/>
            </a:br>
            <a:r>
              <a:rPr lang="zh-TW" altLang="en-US" dirty="0"/>
              <a:t>然後讓使用者猜是哪一個音</a:t>
            </a:r>
            <a:br>
              <a:rPr lang="en-US" altLang="zh-TW" dirty="0"/>
            </a:br>
            <a:r>
              <a:rPr lang="zh-TW" altLang="en-US" dirty="0"/>
              <a:t>訓練音感用的應用</a:t>
            </a:r>
            <a:br>
              <a:rPr lang="en-US" altLang="zh-TW" dirty="0"/>
            </a:br>
            <a:r>
              <a:rPr lang="zh-TW" altLang="en-US" dirty="0"/>
              <a:t>目前市面上有類似的</a:t>
            </a:r>
            <a:r>
              <a:rPr lang="en-US" altLang="zh-TW" dirty="0"/>
              <a:t>APP </a:t>
            </a:r>
            <a:br>
              <a:rPr lang="en-US" altLang="zh-TW" dirty="0"/>
            </a:br>
            <a:r>
              <a:rPr lang="zh-TW" altLang="en-US" dirty="0"/>
              <a:t>但是通常答錯一次就會給提示了</a:t>
            </a:r>
            <a:br>
              <a:rPr lang="en-US" altLang="zh-TW" dirty="0"/>
            </a:br>
            <a:r>
              <a:rPr lang="zh-TW" altLang="en-US" dirty="0"/>
              <a:t>所以我想做的是至少能讓人錯</a:t>
            </a:r>
            <a:r>
              <a:rPr lang="en-US" altLang="zh-TW" dirty="0"/>
              <a:t>2-3</a:t>
            </a:r>
            <a:r>
              <a:rPr lang="zh-TW" altLang="en-US" dirty="0"/>
              <a:t>次以後再給提示</a:t>
            </a:r>
            <a:br>
              <a:rPr lang="en-US" altLang="zh-TW" dirty="0"/>
            </a:br>
            <a:r>
              <a:rPr lang="zh-TW" altLang="en-US" dirty="0"/>
              <a:t>慢慢提高準確度比較不會讓人勸退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8316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2025/1/6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https://github.com/naudio/NAudio?tab=readme-ov-fil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stackoverflow.com/questions/tagged/naudio?tab=newest&amp;page=1&amp;pagesize=15" TargetMode="External"/><Relationship Id="rId3" Type="http://schemas.openxmlformats.org/officeDocument/2006/relationships/hyperlink" Target="mailto:https://zh.wikipedia.org/zh-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nicechord.com/post/major-and-minor-modes/" TargetMode="External"/><Relationship Id="rId5" Type="http://schemas.openxmlformats.org/officeDocument/2006/relationships/hyperlink" Target="mailto:https://github.com/naudio/NAudio?tab=readme-ov-file" TargetMode="External"/><Relationship Id="rId4" Type="http://schemas.openxmlformats.org/officeDocument/2006/relationships/hyperlink" Target="mailto:https://zh.wikipedia.org/zh-tw/%E4%BA%BA%E5%A3%B0%E9%9F%B3%E5%9F%9F" TargetMode="External"/><Relationship Id="rId9" Type="http://schemas.openxmlformats.org/officeDocument/2006/relationships/hyperlink" Target="mailto:https://www.bilibili.com/video/BV1tj411T71P/?spm_id_from=333.337.search-card.all.click&amp;vd_source=88ea28052682913da01ac2ec14baf19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3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4122336-73E2-45B8-A678-70001E282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67618"/>
            <a:ext cx="12190829" cy="392079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26D89FB-0EDA-4185-A4D2-6B15B98A44D6}"/>
              </a:ext>
            </a:extLst>
          </p:cNvPr>
          <p:cNvSpPr/>
          <p:nvPr/>
        </p:nvSpPr>
        <p:spPr>
          <a:xfrm>
            <a:off x="2682947" y="2349975"/>
            <a:ext cx="1867786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21DC240-7DD6-46BC-A085-538E1AE428C9}"/>
              </a:ext>
            </a:extLst>
          </p:cNvPr>
          <p:cNvSpPr/>
          <p:nvPr/>
        </p:nvSpPr>
        <p:spPr>
          <a:xfrm>
            <a:off x="2682947" y="2816378"/>
            <a:ext cx="1867786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926834-F6C2-4DD8-9072-1742595E31E5}"/>
              </a:ext>
            </a:extLst>
          </p:cNvPr>
          <p:cNvSpPr/>
          <p:nvPr/>
        </p:nvSpPr>
        <p:spPr>
          <a:xfrm>
            <a:off x="2682947" y="3771878"/>
            <a:ext cx="2771555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4E21C6-E2E4-43ED-80B0-8F63DBCA32F0}"/>
              </a:ext>
            </a:extLst>
          </p:cNvPr>
          <p:cNvSpPr/>
          <p:nvPr/>
        </p:nvSpPr>
        <p:spPr>
          <a:xfrm>
            <a:off x="2682947" y="4704685"/>
            <a:ext cx="1640959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=69)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推算出整個指數性音高空間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一個八度定義為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十二平均律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。</a:t>
                </a:r>
                <a:b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</a:b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兩個半音定義為一個音程。</a:t>
                </a:r>
                <a:b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</a:b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一個八度音程定義為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即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半音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=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。</a:t>
                </a:r>
                <a:endParaRPr lang="en-US" altLang="zh-TW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人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類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感知音高</a:t>
                </a:r>
                <a:r>
                  <a:rPr lang="en-US" altLang="zh-TW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音程差</a:t>
                </a:r>
                <a:r>
                  <a:rPr lang="en-US" altLang="zh-TW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是依據頻率的對數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比例</a:t>
                </a:r>
                <a:r>
                  <a:rPr lang="zh-TW" altLang="en-US" sz="28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，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而不是頻率差。</a:t>
                </a:r>
                <a:endParaRPr lang="en-US" altLang="zh-TW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endParaRPr lang="en-US" altLang="zh-TW" sz="2800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  <a:p>
                <a:endParaRPr lang="zh-TW" altLang="en-US" dirty="0">
                  <a:latin typeface="Arial" panose="020B0604020202020204" pitchFamily="34" charset="0"/>
                  <a:ea typeface="標楷體" panose="03000509000000000000" pitchFamily="65" charset="-12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351338"/>
              </a:xfrm>
              <a:blipFill>
                <a:blip r:embed="rId3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1419426" y="4933393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426" y="4933393"/>
                <a:ext cx="4676574" cy="5618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6890317" y="4837371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317" y="4837371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1728" y="3272367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7084108" y="2451303"/>
                <a:ext cx="45122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這個音高降半音。 </a:t>
                </a:r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4108" y="2451303"/>
                <a:ext cx="4512262" cy="369332"/>
              </a:xfrm>
              <a:prstGeom prst="rect">
                <a:avLst/>
              </a:prstGeom>
              <a:blipFill>
                <a:blip r:embed="rId4"/>
                <a:stretch>
                  <a:fillRect l="-2432" t="-26230" r="-811" b="-4918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7084106" y="2035757"/>
                <a:ext cx="451226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這個音高升半音。 </a:t>
                </a:r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4106" y="2035757"/>
                <a:ext cx="4512263" cy="369332"/>
              </a:xfrm>
              <a:prstGeom prst="rect">
                <a:avLst/>
              </a:prstGeom>
              <a:blipFill>
                <a:blip r:embed="rId5"/>
                <a:stretch>
                  <a:fillRect l="-2297" t="-27869" r="-1622" b="-475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619" y="1132141"/>
            <a:ext cx="6266161" cy="4280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測量音頻有可能會受到泛音及偏差音的影響。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5220" y="1728787"/>
            <a:ext cx="3268579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B2119D0-3CF2-4D72-97B1-7EEF958C21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172" y="293409"/>
            <a:ext cx="11077656" cy="156211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D3C844D-8504-4409-9D2E-2D694F57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99" y="1927236"/>
            <a:ext cx="8122801" cy="4540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圖片 36">
            <a:extLst>
              <a:ext uri="{FF2B5EF4-FFF2-40B4-BE49-F238E27FC236}">
                <a16:creationId xmlns:a16="http://schemas.microsoft.com/office/drawing/2014/main" id="{867B3574-BEB7-4978-B815-F42C44BFA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237" y="1683277"/>
            <a:ext cx="5417210" cy="4937878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0E1B36FE-BE96-4216-BD9B-A22B40BD6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53" y="1683277"/>
            <a:ext cx="4956289" cy="49378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/>
              <p:nvPr/>
            </p:nvSpPr>
            <p:spPr>
              <a:xfrm>
                <a:off x="7680501" y="334330"/>
                <a:ext cx="4471569" cy="11065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zh-TW" altLang="en-US" sz="32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32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32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3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3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3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1" y="334330"/>
                <a:ext cx="4471569" cy="1106521"/>
              </a:xfrm>
              <a:prstGeom prst="rect">
                <a:avLst/>
              </a:prstGeom>
              <a:blipFill>
                <a:blip r:embed="rId5"/>
                <a:stretch>
                  <a:fillRect b="-5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268E1E4E-6EFC-46E9-A3FE-D548CD7520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118" y="139873"/>
            <a:ext cx="7396425" cy="1495436"/>
          </a:xfrm>
          <a:prstGeom prst="rect">
            <a:avLst/>
          </a:prstGeom>
        </p:spPr>
      </p:pic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EE55984-D891-4CBD-A98A-66FB26006073}"/>
              </a:ext>
            </a:extLst>
          </p:cNvPr>
          <p:cNvCxnSpPr>
            <a:cxnSpLocks/>
          </p:cNvCxnSpPr>
          <p:nvPr/>
        </p:nvCxnSpPr>
        <p:spPr>
          <a:xfrm flipH="1">
            <a:off x="7378995" y="1318437"/>
            <a:ext cx="1903232" cy="1493996"/>
          </a:xfrm>
          <a:prstGeom prst="straightConnector1">
            <a:avLst/>
          </a:prstGeom>
          <a:ln w="50800">
            <a:solidFill>
              <a:srgbClr val="FF0000">
                <a:alpha val="70000"/>
              </a:srgbClr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C6C76807-39A4-4CDA-8AFE-380364A24236}"/>
              </a:ext>
            </a:extLst>
          </p:cNvPr>
          <p:cNvCxnSpPr>
            <a:cxnSpLocks/>
          </p:cNvCxnSpPr>
          <p:nvPr/>
        </p:nvCxnSpPr>
        <p:spPr>
          <a:xfrm flipH="1">
            <a:off x="1616149" y="1318436"/>
            <a:ext cx="7666078" cy="1493997"/>
          </a:xfrm>
          <a:prstGeom prst="straightConnector1">
            <a:avLst/>
          </a:prstGeom>
          <a:ln w="50800">
            <a:solidFill>
              <a:srgbClr val="FF0000">
                <a:alpha val="70000"/>
              </a:srgbClr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5096A6-4923-4348-B26B-78CFE6889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4CA5B60-8C29-49C5-93C2-0455E10C2A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688"/>
            <a:ext cx="12192000" cy="6516624"/>
          </a:xfrm>
        </p:spPr>
      </p:pic>
    </p:spTree>
    <p:extLst>
      <p:ext uri="{BB962C8B-B14F-4D97-AF65-F5344CB8AC3E}">
        <p14:creationId xmlns:p14="http://schemas.microsoft.com/office/powerpoint/2010/main" val="84936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971A0-5E52-49A4-B85B-368FCBB1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8DB95D-0DD2-4A07-B991-9E70095B1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163C3E4-9B7C-4DF6-872C-BBAB83D66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06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AFC2DC58-B2FE-46BE-838F-28A43E6454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74" t="26794" r="1241" b="8214"/>
          <a:stretch/>
        </p:blipFill>
        <p:spPr>
          <a:xfrm>
            <a:off x="1551393" y="4944261"/>
            <a:ext cx="9089214" cy="1125100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FD0D272F-B8C4-456D-A0CB-69A50590F8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361" y="2138023"/>
            <a:ext cx="5379874" cy="259475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3C69151-9D1E-4B87-8951-001959C10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388" y="710507"/>
            <a:ext cx="5955897" cy="378706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48F4ED9-4F9B-4F61-B4D4-08D78AE7E6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361" y="710507"/>
            <a:ext cx="5379874" cy="1283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40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/>
          </a:bodyPr>
          <a:lstStyle/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一般調音器的邏輯是一定的音分範圍內都算判斷準確，因為每個設備外放或是樂器的音會有些許泛音或偏差音上的不同，非專業的收音設備可能會因為這些泛音而對不上標準音高頻率：</a:t>
            </a:r>
            <a:b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用兩台手機交叉比對，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手機用鋼琴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APP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發出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鍵，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手機測量到仍會高於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440Hz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一點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一般的電腦麥克風，容易收到環境或是電腦發出的高頻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466"/>
            <a:ext cx="10515600" cy="5139205"/>
          </a:xfrm>
        </p:spPr>
        <p:txBody>
          <a:bodyPr>
            <a:normAutofit/>
          </a:bodyPr>
          <a:lstStyle/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Wiki-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2"/>
              </a:rPr>
              <a:t>mailto:https://zh.wikipedia.org/zh-tw/%E9%9F%B3%E9%AB%98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3"/>
              </a:rPr>
              <a:t>mailto:https://zh.wikipedia.org/zh-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16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tw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/%E4%BA%BA%E5%A3%B0%E9%9F%B3%E5%9F%9F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套件：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5"/>
              </a:rPr>
              <a:t>mailto:https://github.com/naudio/NAudio?tab=readme-ov-file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好和弦：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6"/>
              </a:rPr>
              <a:t>mailto:https://nicechord.com/post/major-and-minor-modes/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Think DSP: Digital Signal Processing in Python by Allen B. Downey) 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中譯電子書：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7"/>
              </a:rPr>
              <a:t>mailto:https://timag-shield.blogspot.com/2017/04/thinkdsp_82.html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16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stack overflow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mailto:https://stackoverflow.com/questions/tagged/naudio?tab=newest&amp;page=1&amp;pagesize=15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音高測量相關影片：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9"/>
              </a:rPr>
              <a:t>mailto:https://www.bilibili.com/video/BV1tj411T71P/?spm_id_from=333.337.search-</a:t>
            </a:r>
            <a:r>
              <a:rPr lang="zh-TW" altLang="en-US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9"/>
              </a:rPr>
              <a:t> </a:t>
            </a:r>
            <a:r>
              <a:rPr lang="en-US" altLang="zh-TW" sz="16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9"/>
              </a:rPr>
              <a:t>card.all.click&amp;vd_source</a:t>
            </a:r>
            <a:r>
              <a:rPr lang="en-US" altLang="zh-TW" sz="16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9"/>
              </a:rPr>
              <a:t>=88ea28052682913da01ac2ec14baf19d</a:t>
            </a:r>
            <a:endParaRPr lang="en-US" altLang="zh-TW" sz="16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11371</TotalTime>
  <Words>1372</Words>
  <Application>Microsoft Office PowerPoint</Application>
  <PresentationFormat>寬螢幕</PresentationFormat>
  <Paragraphs>95</Paragraphs>
  <Slides>13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160</cp:revision>
  <dcterms:created xsi:type="dcterms:W3CDTF">2024-12-16T07:45:55Z</dcterms:created>
  <dcterms:modified xsi:type="dcterms:W3CDTF">2025-01-06T08:42:41Z</dcterms:modified>
</cp:coreProperties>
</file>