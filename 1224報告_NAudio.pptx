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59" r:id="rId4"/>
    <p:sldId id="260" r:id="rId5"/>
    <p:sldId id="271" r:id="rId6"/>
    <p:sldId id="273" r:id="rId7"/>
    <p:sldId id="258" r:id="rId8"/>
    <p:sldId id="279" r:id="rId9"/>
    <p:sldId id="278" r:id="rId10"/>
    <p:sldId id="270" r:id="rId11"/>
    <p:sldId id="277" r:id="rId12"/>
    <p:sldId id="264" r:id="rId13"/>
    <p:sldId id="262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285" autoAdjust="0"/>
  </p:normalViewPr>
  <p:slideViewPr>
    <p:cSldViewPr snapToGrid="0">
      <p:cViewPr varScale="1">
        <p:scale>
          <a:sx n="90" d="100"/>
          <a:sy n="90" d="100"/>
        </p:scale>
        <p:origin x="135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3CF5F-F7FE-4C60-8BAA-96CD33FF18AC}" type="datetimeFigureOut">
              <a:rPr lang="zh-TW" altLang="en-US" smtClean="0"/>
              <a:t>2025/1/2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5D06F-C5C6-4EC7-8C43-7BC9C830550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1542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原本是想做關於能分析歌曲調性的技術</a:t>
            </a:r>
            <a:br>
              <a:rPr lang="en-US" altLang="zh-TW" dirty="0"/>
            </a:br>
            <a:r>
              <a:rPr lang="zh-TW" altLang="en-US" dirty="0"/>
              <a:t>但發現涉及到的技術頗複雜</a:t>
            </a:r>
            <a:r>
              <a:rPr lang="en-US" altLang="zh-TW" dirty="0"/>
              <a:t>(FT)</a:t>
            </a:r>
            <a:br>
              <a:rPr lang="en-US" altLang="zh-TW" dirty="0"/>
            </a:br>
            <a:r>
              <a:rPr lang="zh-TW" altLang="en-US" dirty="0"/>
              <a:t>數學能力退步了</a:t>
            </a:r>
            <a:r>
              <a:rPr lang="en-US" altLang="zh-TW" dirty="0"/>
              <a:t>XD</a:t>
            </a:r>
          </a:p>
          <a:p>
            <a:r>
              <a:rPr lang="zh-TW" altLang="en-US" dirty="0"/>
              <a:t>所以改為做分析單一音頻高低</a:t>
            </a:r>
            <a:endParaRPr lang="en-US" altLang="zh-TW" dirty="0"/>
          </a:p>
          <a:p>
            <a:r>
              <a:rPr lang="zh-TW" altLang="en-US" dirty="0"/>
              <a:t>以及音頻播放功能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3816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用到：</a:t>
            </a:r>
            <a:br>
              <a:rPr lang="en-US" altLang="zh-TW" dirty="0"/>
            </a:br>
            <a:r>
              <a:rPr lang="en-US" altLang="zh-TW" dirty="0"/>
              <a:t>1.</a:t>
            </a:r>
            <a:r>
              <a:rPr lang="zh-TW" altLang="en-US" dirty="0"/>
              <a:t> </a:t>
            </a:r>
            <a:r>
              <a:rPr lang="en-US" altLang="zh-TW" dirty="0" err="1"/>
              <a:t>WaveInEvent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收音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2.</a:t>
            </a:r>
            <a:r>
              <a:rPr lang="zh-TW" altLang="en-US" dirty="0"/>
              <a:t> </a:t>
            </a:r>
            <a:r>
              <a:rPr lang="en-US" altLang="zh-TW" dirty="0" err="1"/>
              <a:t>WaveOutEvent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放音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3. </a:t>
            </a:r>
            <a:r>
              <a:rPr lang="en-US" altLang="zh-TW" dirty="0" err="1"/>
              <a:t>BufferedWaveProvider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即時緩衝區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56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p</a:t>
            </a:r>
            <a:r>
              <a:rPr lang="zh-TW" altLang="en-US" dirty="0"/>
              <a:t>公式為</a:t>
            </a:r>
            <a:r>
              <a:rPr lang="en-US" altLang="zh-TW" dirty="0"/>
              <a:t>MIDI</a:t>
            </a:r>
            <a:r>
              <a:rPr lang="zh-TW" altLang="en-US" dirty="0"/>
              <a:t>所提出的標準協定公式</a:t>
            </a:r>
            <a:endParaRPr lang="en-US" altLang="zh-TW" dirty="0"/>
          </a:p>
          <a:p>
            <a:r>
              <a:rPr lang="en-US" altLang="zh-TW" dirty="0"/>
              <a:t>12</a:t>
            </a:r>
            <a:r>
              <a:rPr lang="zh-TW" altLang="en-US" dirty="0"/>
              <a:t>平均律的起源為人耳的分辨率和諧度</a:t>
            </a:r>
            <a:br>
              <a:rPr lang="en-US" altLang="zh-TW" dirty="0"/>
            </a:br>
            <a:r>
              <a:rPr lang="zh-TW" altLang="en-US" dirty="0"/>
              <a:t>同樣聽</a:t>
            </a:r>
            <a:r>
              <a:rPr lang="en-US" altLang="zh-TW" dirty="0"/>
              <a:t>A3(220</a:t>
            </a:r>
            <a:r>
              <a:rPr lang="zh-TW" altLang="en-US" dirty="0"/>
              <a:t> </a:t>
            </a:r>
            <a:r>
              <a:rPr lang="en-US" altLang="zh-TW" dirty="0"/>
              <a:t>Hz), A4(440 Hz), A5(880</a:t>
            </a:r>
            <a:r>
              <a:rPr lang="zh-TW" altLang="en-US" dirty="0"/>
              <a:t> </a:t>
            </a:r>
            <a:r>
              <a:rPr lang="en-US" altLang="zh-TW" dirty="0"/>
              <a:t>Hz)</a:t>
            </a:r>
          </a:p>
          <a:p>
            <a:r>
              <a:rPr lang="zh-TW" altLang="en-US" dirty="0"/>
              <a:t>會發現雖然</a:t>
            </a:r>
            <a:r>
              <a:rPr lang="en-US" altLang="zh-TW" dirty="0"/>
              <a:t>A3-A4, A4-A5</a:t>
            </a:r>
            <a:r>
              <a:rPr lang="zh-TW" altLang="en-US" dirty="0"/>
              <a:t>聽起來音程差似乎是一樣的都是差八度</a:t>
            </a:r>
            <a:endParaRPr lang="en-US" altLang="zh-TW" dirty="0"/>
          </a:p>
          <a:p>
            <a:r>
              <a:rPr lang="zh-TW" altLang="en-US" dirty="0"/>
              <a:t>但實際上</a:t>
            </a:r>
            <a:r>
              <a:rPr lang="en-US" altLang="zh-TW" dirty="0"/>
              <a:t>A4-A5</a:t>
            </a:r>
            <a:r>
              <a:rPr lang="zh-TW" altLang="en-US" dirty="0"/>
              <a:t>的頻率差是</a:t>
            </a:r>
            <a:r>
              <a:rPr lang="en-US" altLang="zh-TW" dirty="0"/>
              <a:t>A3-A4</a:t>
            </a:r>
            <a:r>
              <a:rPr lang="zh-TW" altLang="en-US" dirty="0"/>
              <a:t>的兩倍</a:t>
            </a:r>
            <a:br>
              <a:rPr lang="en-US" altLang="zh-TW" dirty="0"/>
            </a:br>
            <a:r>
              <a:rPr lang="zh-TW" altLang="en-US" dirty="0"/>
              <a:t>也就是說在單位時間如果想要讓音高聽起來是線性升高</a:t>
            </a:r>
            <a:endParaRPr lang="en-US" altLang="zh-TW" dirty="0"/>
          </a:p>
          <a:p>
            <a:r>
              <a:rPr lang="zh-TW" altLang="en-US" dirty="0"/>
              <a:t>則頻率要對數增加</a:t>
            </a:r>
            <a:br>
              <a:rPr lang="en-US" altLang="zh-TW" dirty="0"/>
            </a:br>
            <a:r>
              <a:rPr lang="zh-TW" altLang="en-US" dirty="0"/>
              <a:t>簡單來說  </a:t>
            </a:r>
            <a:r>
              <a:rPr lang="en-US" altLang="zh-TW" dirty="0"/>
              <a:t>“</a:t>
            </a:r>
            <a:r>
              <a:rPr lang="zh-TW" altLang="en-US" dirty="0"/>
              <a:t>十二平均律</a:t>
            </a:r>
            <a:r>
              <a:rPr lang="en-US" altLang="zh-TW" dirty="0"/>
              <a:t>”</a:t>
            </a:r>
            <a:r>
              <a:rPr lang="zh-TW" altLang="en-US" dirty="0"/>
              <a:t>是人耳感知力，物理學，數學之間和諧的結果，也使移調操作變得方便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7850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#</a:t>
            </a:r>
            <a:r>
              <a:rPr lang="zh-TW" altLang="en-US" dirty="0"/>
              <a:t>：</a:t>
            </a:r>
            <a:r>
              <a:rPr lang="en-US" altLang="zh-TW" dirty="0"/>
              <a:t>Sharpe</a:t>
            </a:r>
          </a:p>
          <a:p>
            <a:r>
              <a:rPr lang="en-US" altLang="zh-TW" dirty="0"/>
              <a:t>b</a:t>
            </a:r>
            <a:r>
              <a:rPr lang="zh-TW" altLang="en-US" dirty="0"/>
              <a:t>：</a:t>
            </a:r>
            <a:r>
              <a:rPr lang="en-US" altLang="zh-TW" dirty="0"/>
              <a:t>Flat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2549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實際物體發出的泛音不會剛好是基頻整數倍</a:t>
            </a:r>
            <a:br>
              <a:rPr lang="en-US" altLang="zh-TW" sz="12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zh-TW" altLang="en-US" sz="12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會受到材質，物理特性影響</a:t>
            </a:r>
            <a:br>
              <a:rPr lang="en-US" altLang="zh-TW" sz="12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en-US" altLang="zh-TW" sz="12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ex: </a:t>
            </a:r>
            <a:r>
              <a:rPr lang="zh-TW" altLang="en-US" sz="12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鋼琴有高音更高，低音更低的特性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085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GetCapabilities</a:t>
            </a:r>
            <a:r>
              <a:rPr lang="zh-TW" altLang="en-US" dirty="0"/>
              <a:t>：這個方法</a:t>
            </a:r>
            <a:r>
              <a:rPr lang="en-US" altLang="zh-TW" dirty="0"/>
              <a:t>return</a:t>
            </a:r>
            <a:r>
              <a:rPr lang="zh-TW" altLang="en-US" dirty="0"/>
              <a:t>目前電腦有哪些收音設備</a:t>
            </a:r>
            <a:endParaRPr lang="en-US" altLang="zh-TW" dirty="0"/>
          </a:p>
          <a:p>
            <a:r>
              <a:rPr lang="en-US" altLang="zh-TW" dirty="0" err="1"/>
              <a:t>WaveInEvent</a:t>
            </a:r>
            <a:r>
              <a:rPr lang="zh-TW" altLang="en-US" dirty="0"/>
              <a:t>：傳入收音設備</a:t>
            </a:r>
            <a:r>
              <a:rPr lang="en-US" altLang="zh-TW" dirty="0"/>
              <a:t>Index</a:t>
            </a:r>
            <a:r>
              <a:rPr lang="zh-TW" altLang="en-US" dirty="0"/>
              <a:t>值建立收音物件</a:t>
            </a:r>
            <a:endParaRPr lang="en-US" altLang="zh-TW" dirty="0"/>
          </a:p>
          <a:p>
            <a:r>
              <a:rPr lang="en-US" altLang="zh-TW" dirty="0" err="1"/>
              <a:t>WaveFormat</a:t>
            </a:r>
            <a:r>
              <a:rPr lang="zh-TW" altLang="en-US" dirty="0"/>
              <a:t>：設定收音格式</a:t>
            </a:r>
            <a:br>
              <a:rPr lang="en-US" altLang="zh-TW" dirty="0"/>
            </a:br>
            <a:r>
              <a:rPr lang="en-US" altLang="zh-TW" dirty="0" err="1"/>
              <a:t>DataAvailable</a:t>
            </a:r>
            <a:r>
              <a:rPr lang="zh-TW" altLang="en-US" dirty="0"/>
              <a:t>：訂閱自訂分析頻率方法</a:t>
            </a:r>
            <a:endParaRPr lang="en-US" altLang="zh-TW" dirty="0"/>
          </a:p>
          <a:p>
            <a:r>
              <a:rPr lang="en-US" altLang="zh-TW" dirty="0" err="1"/>
              <a:t>bwProvider</a:t>
            </a:r>
            <a:r>
              <a:rPr lang="zh-TW" altLang="en-US" dirty="0"/>
              <a:t>：緩衝區 可限制收音位元區塊大小</a:t>
            </a:r>
            <a:endParaRPr lang="en-US" altLang="zh-TW" dirty="0"/>
          </a:p>
          <a:p>
            <a:r>
              <a:rPr lang="en-US" altLang="zh-TW" dirty="0" err="1"/>
              <a:t>StartRecording</a:t>
            </a:r>
            <a:r>
              <a:rPr lang="zh-TW" altLang="en-US" dirty="0"/>
              <a:t>：執行所有訂閱方法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591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處理邏輯</a:t>
            </a:r>
            <a:r>
              <a:rPr lang="en-US" altLang="zh-TW" dirty="0"/>
              <a:t>(</a:t>
            </a:r>
            <a:r>
              <a:rPr lang="zh-TW" altLang="en-US" dirty="0"/>
              <a:t>左</a:t>
            </a:r>
            <a:r>
              <a:rPr lang="en-US" altLang="zh-TW" dirty="0"/>
              <a:t>)</a:t>
            </a:r>
            <a:r>
              <a:rPr lang="zh-TW" altLang="en-US" dirty="0"/>
              <a:t>：</a:t>
            </a:r>
            <a:endParaRPr lang="en-US" altLang="zh-TW" dirty="0"/>
          </a:p>
          <a:p>
            <a:r>
              <a:rPr lang="zh-TW" altLang="en-US" dirty="0"/>
              <a:t>將</a:t>
            </a:r>
            <a:r>
              <a:rPr lang="en-US" altLang="zh-TW" dirty="0" err="1"/>
              <a:t>WaveInEvent</a:t>
            </a:r>
            <a:r>
              <a:rPr lang="zh-TW" altLang="en-US" dirty="0"/>
              <a:t>測量到的</a:t>
            </a:r>
            <a:r>
              <a:rPr lang="en-US" altLang="zh-TW" dirty="0"/>
              <a:t>Frequency</a:t>
            </a:r>
            <a:r>
              <a:rPr lang="zh-TW" altLang="en-US" dirty="0"/>
              <a:t>傳給這個方法</a:t>
            </a:r>
            <a:br>
              <a:rPr lang="en-US" altLang="zh-TW" dirty="0"/>
            </a:br>
            <a:r>
              <a:rPr lang="zh-TW" altLang="en-US" dirty="0"/>
              <a:t>這個方法會先</a:t>
            </a:r>
            <a:r>
              <a:rPr lang="en-US" altLang="zh-TW" dirty="0"/>
              <a:t>Foreach</a:t>
            </a:r>
            <a:r>
              <a:rPr lang="zh-TW" altLang="en-US" dirty="0"/>
              <a:t>整個基頻定義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然後在把</a:t>
            </a:r>
            <a:r>
              <a:rPr lang="en-US" altLang="zh-TW" dirty="0"/>
              <a:t>Frequency</a:t>
            </a:r>
            <a:r>
              <a:rPr lang="zh-TW" altLang="en-US" dirty="0"/>
              <a:t>跟基頻</a:t>
            </a:r>
            <a:r>
              <a:rPr lang="en-US" altLang="zh-TW" dirty="0"/>
              <a:t>(</a:t>
            </a:r>
            <a:r>
              <a:rPr lang="zh-TW" altLang="en-US" dirty="0"/>
              <a:t>例如 </a:t>
            </a:r>
            <a:r>
              <a:rPr lang="en-US" altLang="zh-TW" dirty="0"/>
              <a:t>C0)</a:t>
            </a:r>
            <a:r>
              <a:rPr lang="zh-TW" altLang="en-US" dirty="0"/>
              <a:t>做音程差計算</a:t>
            </a:r>
            <a:br>
              <a:rPr lang="en-US" altLang="zh-TW" dirty="0"/>
            </a:br>
            <a:r>
              <a:rPr lang="zh-TW" altLang="en-US" dirty="0"/>
              <a:t>找基頻定義的第一個 </a:t>
            </a:r>
            <a:r>
              <a:rPr lang="en-US" altLang="zh-TW" dirty="0"/>
              <a:t>key &amp; value pair  </a:t>
            </a:r>
            <a:r>
              <a:rPr lang="zh-TW" altLang="en-US" dirty="0"/>
              <a:t>如果音程差</a:t>
            </a:r>
            <a:r>
              <a:rPr lang="en-US" altLang="zh-TW" dirty="0"/>
              <a:t>&gt;50</a:t>
            </a:r>
            <a:r>
              <a:rPr lang="zh-TW" altLang="en-US" dirty="0"/>
              <a:t>或</a:t>
            </a:r>
            <a:r>
              <a:rPr lang="en-US" altLang="zh-TW" dirty="0"/>
              <a:t>&lt;-50</a:t>
            </a:r>
            <a:r>
              <a:rPr lang="zh-TW" altLang="en-US" dirty="0"/>
              <a:t>就將基頻翻倍跟下一個八度的音</a:t>
            </a:r>
            <a:r>
              <a:rPr lang="en-US" altLang="zh-TW" dirty="0"/>
              <a:t>(</a:t>
            </a:r>
            <a:r>
              <a:rPr lang="zh-TW" altLang="en-US" dirty="0"/>
              <a:t>例如 </a:t>
            </a:r>
            <a:r>
              <a:rPr lang="en-US" altLang="zh-TW" dirty="0"/>
              <a:t>C1)</a:t>
            </a:r>
            <a:r>
              <a:rPr lang="zh-TW" altLang="en-US" dirty="0"/>
              <a:t>做計算</a:t>
            </a:r>
            <a:br>
              <a:rPr lang="en-US" altLang="zh-TW" dirty="0"/>
            </a:br>
            <a:r>
              <a:rPr lang="zh-TW" altLang="en-US" dirty="0"/>
              <a:t>直到找到音程差介於</a:t>
            </a:r>
            <a:r>
              <a:rPr lang="en-US" altLang="zh-TW" dirty="0"/>
              <a:t>-50~50</a:t>
            </a:r>
            <a:r>
              <a:rPr lang="zh-TW" altLang="en-US" dirty="0"/>
              <a:t>之間，即為找到該頻率</a:t>
            </a:r>
            <a:br>
              <a:rPr lang="en-US" altLang="zh-TW" dirty="0"/>
            </a:br>
            <a:r>
              <a:rPr lang="zh-TW" altLang="en-US" dirty="0"/>
              <a:t>注意：先對比所有八度的同一音名，才會對比下一個音名</a:t>
            </a:r>
            <a:br>
              <a:rPr lang="en-US" altLang="zh-TW" dirty="0"/>
            </a:br>
            <a:r>
              <a:rPr lang="en-US" altLang="zh-TW" dirty="0"/>
              <a:t>chat</a:t>
            </a:r>
            <a:r>
              <a:rPr lang="zh-TW" altLang="en-US" dirty="0"/>
              <a:t> </a:t>
            </a:r>
            <a:r>
              <a:rPr lang="en-US" altLang="zh-TW" dirty="0" err="1"/>
              <a:t>gpt</a:t>
            </a:r>
            <a:r>
              <a:rPr lang="zh-TW" altLang="en-US" dirty="0"/>
              <a:t> 給的</a:t>
            </a:r>
            <a:r>
              <a:rPr lang="en-US" altLang="zh-TW" dirty="0"/>
              <a:t>(</a:t>
            </a:r>
            <a:r>
              <a:rPr lang="zh-TW" altLang="en-US" dirty="0"/>
              <a:t>右</a:t>
            </a:r>
            <a:r>
              <a:rPr lang="en-US" altLang="zh-TW" dirty="0"/>
              <a:t>)</a:t>
            </a:r>
            <a:r>
              <a:rPr lang="zh-TW" altLang="en-US" dirty="0"/>
              <a:t>則相反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如果目標音頻較低：</a:t>
            </a:r>
            <a:br>
              <a:rPr lang="en-US" altLang="zh-TW" dirty="0"/>
            </a:br>
            <a:r>
              <a:rPr lang="zh-TW" altLang="en-US" b="1" dirty="0"/>
              <a:t>方法 </a:t>
            </a:r>
            <a:r>
              <a:rPr lang="en-US" altLang="zh-TW" b="1" dirty="0"/>
              <a:t>1</a:t>
            </a:r>
            <a:r>
              <a:rPr lang="zh-TW" altLang="en-US" dirty="0"/>
              <a:t>（先找八度）更快，因為它能快速退出外層八度循環。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b="1" dirty="0"/>
              <a:t>方法 </a:t>
            </a:r>
            <a:r>
              <a:rPr lang="en-US" altLang="zh-TW" b="1" dirty="0"/>
              <a:t>2</a:t>
            </a:r>
            <a:r>
              <a:rPr lang="zh-TW" altLang="en-US" dirty="0"/>
              <a:t>（先找音）會先遍歷完整個音名集合，可能多做一些不必要的計算。</a:t>
            </a:r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/>
              <a:t>如果目標音頻較高：</a:t>
            </a:r>
            <a:br>
              <a:rPr lang="en-US" altLang="zh-TW" dirty="0"/>
            </a:br>
            <a:r>
              <a:rPr lang="zh-TW" altLang="en-US" b="1" dirty="0"/>
              <a:t>方法 </a:t>
            </a:r>
            <a:r>
              <a:rPr lang="en-US" altLang="zh-TW" b="1" dirty="0"/>
              <a:t>2</a:t>
            </a:r>
            <a:r>
              <a:rPr lang="zh-TW" altLang="en-US" dirty="0"/>
              <a:t> 可能稍快，因為它能快速遍歷較高音頻的八度集合。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5592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WaveOutEvent</a:t>
            </a:r>
            <a:r>
              <a:rPr lang="zh-TW" altLang="en-US" dirty="0"/>
              <a:t>：傳入放音設備</a:t>
            </a:r>
            <a:r>
              <a:rPr lang="en-US" altLang="zh-TW" dirty="0"/>
              <a:t>index</a:t>
            </a:r>
            <a:r>
              <a:rPr lang="zh-TW" altLang="en-US" dirty="0"/>
              <a:t>值建立放音物件</a:t>
            </a:r>
            <a:endParaRPr lang="en-US" altLang="zh-TW" dirty="0"/>
          </a:p>
          <a:p>
            <a:r>
              <a:rPr lang="en-US" altLang="zh-TW" dirty="0" err="1"/>
              <a:t>SignalGenerator</a:t>
            </a:r>
            <a:r>
              <a:rPr lang="zh-TW" altLang="en-US" dirty="0"/>
              <a:t>：訊號產生器</a:t>
            </a:r>
            <a:r>
              <a:rPr lang="en-US" altLang="zh-TW" dirty="0"/>
              <a:t>, </a:t>
            </a:r>
            <a:r>
              <a:rPr lang="zh-TW" altLang="en-US" dirty="0"/>
              <a:t>設定波型</a:t>
            </a:r>
            <a:endParaRPr lang="en-US" altLang="zh-TW" dirty="0"/>
          </a:p>
          <a:p>
            <a:r>
              <a:rPr lang="en-US" altLang="zh-TW" dirty="0" err="1"/>
              <a:t>fn</a:t>
            </a:r>
            <a:r>
              <a:rPr lang="en-US" altLang="zh-TW" dirty="0"/>
              <a:t> = f0 * 2^n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5734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音分範圍：</a:t>
            </a:r>
            <a:r>
              <a:rPr lang="en-US" altLang="zh-TW" dirty="0"/>
              <a:t>50</a:t>
            </a:r>
            <a:r>
              <a:rPr lang="zh-TW" altLang="en-US" dirty="0"/>
              <a:t> </a:t>
            </a:r>
            <a:r>
              <a:rPr lang="en-US" altLang="zh-TW" dirty="0"/>
              <a:t>cents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5D06F-C5C6-4EC7-8C43-7BC9C830550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8316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76EA00-0D6A-4D68-8EFD-CD41D380B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8C081F0-0180-44EB-8575-D79CE195F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9875D0-B982-471E-AC77-4B4BA747B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D28CCD-3E2A-47BC-8526-66765A9B8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53DA75-971B-4650-A67A-876D018D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587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7EB4CA-B987-4A44-B4DD-F84311BA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32B252-D152-4988-BA6F-16CF294E7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F64C45-9D0F-4FE2-A1A0-BD45502D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3E5784-39AE-4A35-9D16-A92998BB9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395544-FE41-42FC-BF2B-B0B4B80D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312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F253A0-4B60-4872-8633-0EE298D7A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2C91083-3940-451A-A60F-A3F9DCB04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0EA7F5-23ED-4A41-B509-DC12B1C11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3141A1-724C-4E03-B9E3-C3302D17F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9D9731-8A75-4D81-8C7D-145545A3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532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99F9C-5686-463E-BF44-07796F439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D0EA1C-6D49-4E42-89F8-D68FF53D8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2078007-A5B0-4581-9A2A-A8342AF40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D390AA6-E7FD-4F4C-AFC6-3A74B2537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B1664D8-5F99-4E47-8615-EF7EF4EA0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D24143-8555-4401-AF36-4FBEB21A8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0660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1C0191-40FF-48E4-94B4-02AB1575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DA352B-A7B2-49A5-916D-96340F33A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4B8BDE-2B4F-4EB0-AD05-FB8570F30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E2D0368-7E6C-47B7-B2C0-BE8E4D75D2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113D543-31A7-4A2A-83C2-758D50196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83BB532-C489-4AB7-981D-45ACE710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7FAE673-35DE-408C-A8F4-A8D11B26D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DC0B114-3B2F-41E4-AB67-518CCF3E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866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A0D110-4551-419C-8D3A-786A026C2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645198B-3B07-4091-9688-037CBB875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3518BA-6A70-4496-A6F4-FDB818B2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7C6FA6C-CBE8-4E69-98F9-9CC5412D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1023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AD11071-D575-45B8-BE13-4BB8820A4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E2C0DD5-FE28-4155-A3F0-390D46344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13A572-791E-4DD6-B522-54FED4DAE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261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7B7F91-EE69-4779-B1FE-E188CB0C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190EE0-8539-4BB2-8297-831049D9B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4AA7E2E-DDD3-444A-8407-4F363861B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2C95AA-644F-4CEF-B6EB-0E25F8DDC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E867814-2ADF-46C9-B298-4D6B2FB30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37947C-41A4-44AF-8E5D-6F7696B1E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1485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96EE34-0084-45C1-A12E-59E9DCCE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8117B13-F442-4DFE-B120-5F21BA6AA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0D047FC-7CB2-484D-9F01-16181BD14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3B61DF5-D529-402B-AD55-DAA44FD8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6B8F04-C2E3-4EE1-9975-1A440C0AC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7FD2526-0399-4E25-9E4B-D646B448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7105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9ED063-BF47-4B74-8075-6FD55ABE9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6E93511-69A6-4069-80DE-352CB9E0A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06AE99-860A-41DD-99DE-8C5D8C479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4C652B-EAAE-4171-975C-D7D1DB5FB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7CF27D-5BE5-4868-98CB-74C599E9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4205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0676BC9-F8AD-46F4-A41B-8581573D4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84DFE9D-6140-4A69-8A2B-4764B563C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F411FB-AAAA-48E0-810F-76954D8A7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2A52-CB54-4445-AC34-F501DA2D4712}" type="datetimeFigureOut">
              <a:rPr lang="zh-TW" altLang="en-US" smtClean="0"/>
              <a:t>2025/1/2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6BF75A-31DA-4DE9-9DCB-FAD75A2B6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B10F9D-B19E-49E6-9693-307FCBBEC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7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94AEAB3-0BC0-475F-BC47-36E582E8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2BE48E-851D-48DD-A850-DD027CFA1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79C306-ABB3-45C6-8866-A700B32F4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22A52-CB54-4445-AC34-F501DA2D4712}" type="datetimeFigureOut">
              <a:rPr lang="zh-TW" altLang="en-US" smtClean="0"/>
              <a:t>2025/1/2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D23E25-E915-4666-80F8-75A504B2D0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E87582-D016-4054-935A-3035048F8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2C16D-8C2D-4C77-A4C6-126522F82F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178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ttps://github.com/naudio/NAudio?tab=readme-ov-fil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mailto:https://stackoverflow.com/questions/tagged/naudio?tab=newest&amp;page=1&amp;pagesize=15" TargetMode="External"/><Relationship Id="rId3" Type="http://schemas.openxmlformats.org/officeDocument/2006/relationships/hyperlink" Target="mailto:https://zh.wikipedia.org/zh-" TargetMode="External"/><Relationship Id="rId7" Type="http://schemas.openxmlformats.org/officeDocument/2006/relationships/hyperlink" Target="mailto:https://timag-shield.blogspot.com/2017/04/thinkdsp_82.html" TargetMode="External"/><Relationship Id="rId2" Type="http://schemas.openxmlformats.org/officeDocument/2006/relationships/hyperlink" Target="mailto:https://zh.wikipedia.org/zh-tw/%E9%9F%B3%E9%AB%9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https://nicechord.com/post/major-and-minor-modes/" TargetMode="External"/><Relationship Id="rId5" Type="http://schemas.openxmlformats.org/officeDocument/2006/relationships/hyperlink" Target="mailto:https://github.com/naudio/NAudio?tab=readme-ov-file" TargetMode="External"/><Relationship Id="rId4" Type="http://schemas.openxmlformats.org/officeDocument/2006/relationships/hyperlink" Target="mailto:https://zh.wikipedia.org/zh-tw/%E4%BA%BA%E5%A3%B0%E9%9F%B3%E5%9F%9F" TargetMode="External"/><Relationship Id="rId9" Type="http://schemas.openxmlformats.org/officeDocument/2006/relationships/hyperlink" Target="mailto:https://www.bilibili.com/video/BV1tj411T71P/?spm_id_from=333.337.search-card.all.click&amp;vd_source=88ea28052682913da01ac2ec14baf19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168A6BEB-3BEB-4E05-9369-87FB26EC3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767203"/>
            <a:ext cx="9144000" cy="1874840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>
                <a:latin typeface="Consolas" panose="020B0609020204030204" pitchFamily="49" charset="0"/>
              </a:rPr>
              <a:t>NAudio is an open source .NET audio library written </a:t>
            </a:r>
          </a:p>
          <a:p>
            <a:r>
              <a:rPr lang="en-US" altLang="zh-TW" dirty="0">
                <a:latin typeface="Consolas" panose="020B0609020204030204" pitchFamily="49" charset="0"/>
              </a:rPr>
              <a:t>by Mark Heath</a:t>
            </a:r>
          </a:p>
          <a:p>
            <a:r>
              <a:rPr lang="en-US" altLang="zh-TW" dirty="0">
                <a:latin typeface="Consolas" panose="020B0609020204030204" pitchFamily="49" charset="0"/>
                <a:hlinkClick r:id="rId3"/>
              </a:rPr>
              <a:t>mailto:https://github.com/naudio/NAudio?tab=readme-ov-file</a:t>
            </a:r>
            <a:endParaRPr lang="en-US" altLang="zh-TW" dirty="0">
              <a:latin typeface="Consolas" panose="020B0609020204030204" pitchFamily="49" charset="0"/>
            </a:endParaRPr>
          </a:p>
          <a:p>
            <a:endParaRPr lang="en-US" altLang="zh-TW" dirty="0">
              <a:latin typeface="Consolas" panose="020B0609020204030204" pitchFamily="49" charset="0"/>
            </a:endParaRPr>
          </a:p>
          <a:p>
            <a:r>
              <a:rPr lang="en-US" altLang="zh-TW" dirty="0">
                <a:latin typeface="Consolas" panose="020B0609020204030204" pitchFamily="49" charset="0"/>
              </a:rPr>
              <a:t>Howard</a:t>
            </a:r>
            <a:endParaRPr lang="zh-TW" altLang="en-US" dirty="0">
              <a:latin typeface="Consolas" panose="020B0609020204030204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0A3553-C5CF-4B73-810D-FB2D04ABF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0" y="1974849"/>
            <a:ext cx="589597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072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4DC5B8-0A57-4772-8EF5-FF29245F6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功能及應用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4122336-73E2-45B8-A678-70001E282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7618"/>
            <a:ext cx="12190829" cy="392079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26D89FB-0EDA-4185-A4D2-6B15B98A44D6}"/>
              </a:ext>
            </a:extLst>
          </p:cNvPr>
          <p:cNvSpPr/>
          <p:nvPr/>
        </p:nvSpPr>
        <p:spPr>
          <a:xfrm>
            <a:off x="2682947" y="2349975"/>
            <a:ext cx="1867786" cy="414669"/>
          </a:xfrm>
          <a:prstGeom prst="rect">
            <a:avLst/>
          </a:prstGeom>
          <a:noFill/>
          <a:ln w="38100" cap="flat" cmpd="sng" algn="ctr">
            <a:solidFill>
              <a:srgbClr val="FF0000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1DC240-7DD6-46BC-A085-538E1AE428C9}"/>
              </a:ext>
            </a:extLst>
          </p:cNvPr>
          <p:cNvSpPr/>
          <p:nvPr/>
        </p:nvSpPr>
        <p:spPr>
          <a:xfrm>
            <a:off x="2682947" y="2816378"/>
            <a:ext cx="1867786" cy="414669"/>
          </a:xfrm>
          <a:prstGeom prst="rect">
            <a:avLst/>
          </a:prstGeom>
          <a:noFill/>
          <a:ln w="38100" cap="flat" cmpd="sng" algn="ctr">
            <a:solidFill>
              <a:srgbClr val="FF0000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926834-F6C2-4DD8-9072-1742595E31E5}"/>
              </a:ext>
            </a:extLst>
          </p:cNvPr>
          <p:cNvSpPr/>
          <p:nvPr/>
        </p:nvSpPr>
        <p:spPr>
          <a:xfrm>
            <a:off x="2682947" y="3771878"/>
            <a:ext cx="2771555" cy="414669"/>
          </a:xfrm>
          <a:prstGeom prst="rect">
            <a:avLst/>
          </a:prstGeom>
          <a:noFill/>
          <a:ln w="38100" cap="flat" cmpd="sng" algn="ctr">
            <a:solidFill>
              <a:srgbClr val="FF0000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4E21C6-E2E4-43ED-80B0-8F63DBCA32F0}"/>
              </a:ext>
            </a:extLst>
          </p:cNvPr>
          <p:cNvSpPr/>
          <p:nvPr/>
        </p:nvSpPr>
        <p:spPr>
          <a:xfrm>
            <a:off x="2682947" y="4704685"/>
            <a:ext cx="1640959" cy="414669"/>
          </a:xfrm>
          <a:prstGeom prst="rect">
            <a:avLst/>
          </a:prstGeom>
          <a:noFill/>
          <a:ln w="38100" cap="flat" cmpd="sng" algn="ctr">
            <a:solidFill>
              <a:srgbClr val="FF0000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994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40546-EB3B-413A-89E4-F3A1D2712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基本知識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D388685-382F-4E73-91BB-5EA4D4F981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國際標準音高將</a:t>
                </a:r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TW" sz="280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定為 </a:t>
                </a:r>
                <a:r>
                  <a:rPr lang="en-US" altLang="zh-TW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440(Hz)</a:t>
                </a:r>
                <a:r>
                  <a:rPr lang="zh-TW" altLang="en-US" dirty="0">
                    <a:latin typeface="Consolas" panose="020B0609020204030204" pitchFamily="49" charset="0"/>
                    <a:ea typeface="標楷體" panose="03000509000000000000" pitchFamily="65" charset="-120"/>
                  </a:rPr>
                  <a:t>，即為每秒震動 </a:t>
                </a:r>
                <a:r>
                  <a:rPr lang="en-US" altLang="zh-TW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440</a:t>
                </a:r>
                <a:r>
                  <a:rPr lang="zh-TW" altLang="en-US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</a:t>
                </a:r>
                <a:r>
                  <a:rPr lang="zh-TW" altLang="en-US" dirty="0">
                    <a:latin typeface="Consolas" panose="020B0609020204030204" pitchFamily="49" charset="0"/>
                    <a:ea typeface="標楷體" panose="03000509000000000000" pitchFamily="65" charset="-120"/>
                  </a:rPr>
                  <a:t>次。</a:t>
                </a:r>
                <a:endParaRPr lang="en-US" altLang="zh-TW" dirty="0">
                  <a:latin typeface="Consolas" panose="020B0609020204030204" pitchFamily="49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 由以下方程式可以</a:t>
                </a:r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=69)</a:t>
                </a:r>
                <a:r>
                  <a:rPr lang="zh-TW" altLang="en-US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推算出整個線性音高空間</a:t>
                </a:r>
                <a:r>
                  <a:rPr lang="zh-TW" altLang="en-US" dirty="0">
                    <a:latin typeface="Consolas" panose="020B0609020204030204" pitchFamily="49" charset="0"/>
                    <a:ea typeface="標楷體" panose="03000509000000000000" pitchFamily="65" charset="-120"/>
                  </a:rPr>
                  <a:t>。</a:t>
                </a:r>
                <a:endParaRPr lang="en-US" altLang="zh-TW" dirty="0">
                  <a:latin typeface="Consolas" panose="020B0609020204030204" pitchFamily="49" charset="0"/>
                  <a:ea typeface="標楷體" panose="03000509000000000000" pitchFamily="65" charset="-120"/>
                </a:endParaRPr>
              </a:p>
              <a:p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每個八度大小定義為 </a:t>
                </a:r>
                <a:r>
                  <a:rPr lang="en-US" altLang="zh-TW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12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 半音。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兩個半音相當於一個音程。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zh-TW" altLang="en-US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定義一個八度音程為</a:t>
                </a:r>
                <a:r>
                  <a:rPr lang="en-US" altLang="zh-TW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1200</a:t>
                </a:r>
                <a:r>
                  <a:rPr lang="zh-TW" altLang="en-US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音分</a:t>
                </a:r>
                <a:r>
                  <a:rPr lang="en-US" altLang="zh-TW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(cent)</a:t>
                </a:r>
                <a:r>
                  <a:rPr lang="zh-TW" altLang="en-US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</a:t>
                </a:r>
                <a:r>
                  <a:rPr lang="en-US" altLang="zh-TW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(</a:t>
                </a:r>
                <a:r>
                  <a:rPr lang="zh-TW" altLang="en-US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即 </a:t>
                </a:r>
                <a:r>
                  <a:rPr lang="en-US" altLang="zh-TW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1</a:t>
                </a:r>
                <a:r>
                  <a:rPr lang="zh-TW" altLang="en-US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半音 </a:t>
                </a:r>
                <a:r>
                  <a:rPr lang="en-US" altLang="zh-TW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=</a:t>
                </a:r>
                <a:r>
                  <a:rPr lang="zh-TW" altLang="en-US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</a:t>
                </a:r>
                <a:r>
                  <a:rPr lang="en-US" altLang="zh-TW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100</a:t>
                </a:r>
                <a:r>
                  <a:rPr lang="zh-TW" altLang="en-US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 音分</a:t>
                </a:r>
                <a:r>
                  <a:rPr lang="en-US" altLang="zh-TW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)</a:t>
                </a:r>
                <a:r>
                  <a:rPr lang="zh-TW" altLang="en-US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。</a:t>
                </a:r>
                <a:endParaRPr lang="en-US" altLang="zh-TW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r>
                  <a:rPr lang="zh-TW" altLang="en-US" sz="280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人</a:t>
                </a:r>
                <a:r>
                  <a:rPr lang="zh-TW" altLang="en-US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類</a:t>
                </a:r>
                <a:r>
                  <a:rPr lang="zh-TW" altLang="en-US" sz="280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感知音高</a:t>
                </a:r>
                <a:r>
                  <a:rPr lang="en-US" altLang="zh-TW" sz="280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(</a:t>
                </a:r>
                <a:r>
                  <a:rPr lang="zh-TW" altLang="en-US" sz="280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音程差</a:t>
                </a:r>
                <a:r>
                  <a:rPr lang="en-US" altLang="zh-TW" sz="280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)</a:t>
                </a:r>
                <a:r>
                  <a:rPr lang="zh-TW" altLang="en-US" sz="280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是依據頻率的對數</a:t>
                </a:r>
                <a:r>
                  <a:rPr lang="zh-TW" altLang="en-US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比例</a:t>
                </a:r>
                <a:r>
                  <a:rPr lang="zh-TW" altLang="en-US" sz="280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，</a:t>
                </a:r>
                <a:r>
                  <a:rPr lang="zh-TW" altLang="en-US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而不是頻率差。</a:t>
                </a:r>
                <a:endParaRPr lang="en-US" altLang="zh-TW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endParaRPr lang="en-US" altLang="zh-TW" sz="280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  <a:p>
                <a:endParaRPr lang="zh-TW" altLang="en-US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D388685-382F-4E73-91BB-5EA4D4F981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B6088C4-5344-435C-8646-EACA9D63C59E}"/>
                  </a:ext>
                </a:extLst>
              </p:cNvPr>
              <p:cNvSpPr txBox="1"/>
              <p:nvPr/>
            </p:nvSpPr>
            <p:spPr>
              <a:xfrm>
                <a:off x="1419426" y="5205268"/>
                <a:ext cx="4676574" cy="561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=440×</m:t>
                      </m:r>
                      <m:sSup>
                        <m:sSup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zh-TW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zh-TW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zh-TW" altLang="en-US" sz="2400" i="0">
                                      <a:latin typeface="Cambria Math" panose="02040503050406030204" pitchFamily="18" charset="0"/>
                                    </a:rPr>
                                    <m:t>−69</m:t>
                                  </m:r>
                                </m:e>
                              </m:d>
                            </m:num>
                            <m:den>
                              <m:r>
                                <a:rPr lang="zh-TW" altLang="en-US" sz="2400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TW" altLang="en-US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B6088C4-5344-435C-8646-EACA9D63C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426" y="5205268"/>
                <a:ext cx="4676574" cy="5618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B3FEC1E-03AF-4602-B5CA-B3ED711EEEFF}"/>
                  </a:ext>
                </a:extLst>
              </p:cNvPr>
              <p:cNvSpPr txBox="1"/>
              <p:nvPr/>
            </p:nvSpPr>
            <p:spPr>
              <a:xfrm>
                <a:off x="6890317" y="5071290"/>
                <a:ext cx="3030657" cy="8298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=1200×</m:t>
                      </m:r>
                      <m:func>
                        <m:func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240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TW" alt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zh-TW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TW" altLang="en-US" sz="2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TW" altLang="en-US" sz="2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B3FEC1E-03AF-4602-B5CA-B3ED711EE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317" y="5071290"/>
                <a:ext cx="3030657" cy="8298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041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A9DAA703-06E0-45BE-909D-672217DDC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830" y="2094166"/>
            <a:ext cx="5615946" cy="1513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1643FED-07D7-4A12-986C-B07FA308904E}"/>
                  </a:ext>
                </a:extLst>
              </p:cNvPr>
              <p:cNvSpPr txBox="1"/>
              <p:nvPr/>
            </p:nvSpPr>
            <p:spPr>
              <a:xfrm>
                <a:off x="7052210" y="1273102"/>
                <a:ext cx="451226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𝐶𝑏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zh-TW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Consolas" panose="020B0609020204030204" pitchFamily="49" charset="0"/>
                    <a:ea typeface="標楷體" panose="03000509000000000000" pitchFamily="65" charset="-120"/>
                  </a:rPr>
                  <a:t>:</a:t>
                </a:r>
                <a:r>
                  <a:rPr lang="zh-TW" altLang="en-US" sz="2400" dirty="0">
                    <a:latin typeface="Consolas" panose="020B0609020204030204" pitchFamily="49" charset="0"/>
                    <a:ea typeface="標楷體" panose="03000509000000000000" pitchFamily="65" charset="-120"/>
                  </a:rPr>
                  <a:t> 代表</a:t>
                </a:r>
                <a:r>
                  <a:rPr lang="en-US" altLang="zh-TW" sz="240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C4</a:t>
                </a:r>
                <a:r>
                  <a:rPr lang="zh-TW" altLang="en-US" sz="2400" dirty="0">
                    <a:latin typeface="Consolas" panose="020B0609020204030204" pitchFamily="49" charset="0"/>
                    <a:ea typeface="標楷體" panose="03000509000000000000" pitchFamily="65" charset="-120"/>
                  </a:rPr>
                  <a:t>這個音高降半音。 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1643FED-07D7-4A12-986C-B07FA3089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210" y="1273102"/>
                <a:ext cx="4512262" cy="369332"/>
              </a:xfrm>
              <a:prstGeom prst="rect">
                <a:avLst/>
              </a:prstGeom>
              <a:blipFill>
                <a:blip r:embed="rId4"/>
                <a:stretch>
                  <a:fillRect l="-2432" t="-28333" r="-676" b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569E197-6A37-4FFA-A110-3DBE3271A53C}"/>
                  </a:ext>
                </a:extLst>
              </p:cNvPr>
              <p:cNvSpPr txBox="1"/>
              <p:nvPr/>
            </p:nvSpPr>
            <p:spPr>
              <a:xfrm>
                <a:off x="7052208" y="857556"/>
                <a:ext cx="451226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#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zh-TW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Consolas" panose="020B0609020204030204" pitchFamily="49" charset="0"/>
                    <a:ea typeface="標楷體" panose="03000509000000000000" pitchFamily="65" charset="-120"/>
                  </a:rPr>
                  <a:t>:</a:t>
                </a:r>
                <a:r>
                  <a:rPr lang="zh-TW" altLang="en-US" sz="2400" dirty="0">
                    <a:latin typeface="Consolas" panose="020B0609020204030204" pitchFamily="49" charset="0"/>
                    <a:ea typeface="標楷體" panose="03000509000000000000" pitchFamily="65" charset="-120"/>
                  </a:rPr>
                  <a:t> 代表</a:t>
                </a:r>
                <a:r>
                  <a:rPr lang="en-US" altLang="zh-TW" sz="2400" dirty="0">
                    <a:latin typeface="Arial" panose="020B0604020202020204" pitchFamily="34" charset="0"/>
                    <a:ea typeface="標楷體" panose="03000509000000000000" pitchFamily="65" charset="-120"/>
                    <a:cs typeface="Arial" panose="020B0604020202020204" pitchFamily="34" charset="0"/>
                  </a:rPr>
                  <a:t>C4</a:t>
                </a:r>
                <a:r>
                  <a:rPr lang="zh-TW" altLang="en-US" sz="2400" dirty="0">
                    <a:latin typeface="Consolas" panose="020B0609020204030204" pitchFamily="49" charset="0"/>
                    <a:ea typeface="標楷體" panose="03000509000000000000" pitchFamily="65" charset="-120"/>
                  </a:rPr>
                  <a:t>這個音高升半音。 </a:t>
                </a: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569E197-6A37-4FFA-A110-3DBE3271A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208" y="857556"/>
                <a:ext cx="4512263" cy="369332"/>
              </a:xfrm>
              <a:prstGeom prst="rect">
                <a:avLst/>
              </a:prstGeom>
              <a:blipFill>
                <a:blip r:embed="rId5"/>
                <a:stretch>
                  <a:fillRect l="-2432" t="-28333" r="-1486" b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圖片 10">
            <a:extLst>
              <a:ext uri="{FF2B5EF4-FFF2-40B4-BE49-F238E27FC236}">
                <a16:creationId xmlns:a16="http://schemas.microsoft.com/office/drawing/2014/main" id="{E187AC0F-1A69-41D0-8304-16DE2582C2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501" y="4484071"/>
            <a:ext cx="8518998" cy="237392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B4B8FE9-ECDB-427D-9AEE-E216B3F333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721" y="110573"/>
            <a:ext cx="6266161" cy="428045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A6D1106-09D6-4430-9986-D99F45EE46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6559" y="421778"/>
            <a:ext cx="9178882" cy="516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0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27AA2B-FF89-42CE-B9E5-F2C8F9CD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泛音列</a:t>
            </a:r>
            <a:r>
              <a:rPr lang="en-US" altLang="zh-TW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(Harmonic series)</a:t>
            </a:r>
            <a:endParaRPr lang="zh-TW" altLang="en-US" b="1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A5B91E-9772-4F8E-BFEF-EB9492AC5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發聲體除了會整體震動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基音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外還會部份震動</a:t>
            </a:r>
            <a:endParaRPr lang="en-US" altLang="zh-TW" sz="2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音叉除外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，這些微小的分段震動就會形成泛音</a:t>
            </a:r>
            <a:endParaRPr lang="en-US" altLang="zh-TW" sz="2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列。</a:t>
            </a:r>
            <a:endParaRPr lang="en-US" altLang="zh-TW" sz="2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音色的成因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泛音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+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偏差音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。</a:t>
            </a:r>
            <a:endParaRPr lang="en-US" altLang="zh-TW" sz="2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基頻的整數倍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(2,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3,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4, 5,…)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。</a:t>
            </a:r>
            <a:endParaRPr lang="en-US" altLang="zh-TW" sz="2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人的大腦會自動解析基頻為音高，泛音列為音色。</a:t>
            </a:r>
            <a:endParaRPr lang="en-US" altLang="zh-TW" sz="2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zh-TW" altLang="en-US" sz="2400" b="1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測量音頻有可能會受到泛音及偏差音的影響。</a:t>
            </a:r>
          </a:p>
        </p:txBody>
      </p:sp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9ED7A301-E4E7-45C9-86E1-27B016537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220" y="1728787"/>
            <a:ext cx="326857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742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0AD999-551A-4870-9B41-82B9E184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4BCA8551-CAFF-4993-9762-DB3EAFEE5A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490"/>
          <a:stretch/>
        </p:blipFill>
        <p:spPr>
          <a:xfrm>
            <a:off x="2340522" y="1918738"/>
            <a:ext cx="7510956" cy="460554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1B2119D0-3CF2-4D72-97B1-7EEF958C2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72" y="293409"/>
            <a:ext cx="11077656" cy="156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44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圖片 36">
            <a:extLst>
              <a:ext uri="{FF2B5EF4-FFF2-40B4-BE49-F238E27FC236}">
                <a16:creationId xmlns:a16="http://schemas.microsoft.com/office/drawing/2014/main" id="{867B3574-BEB7-4978-B815-F42C44BFA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37" y="1683277"/>
            <a:ext cx="5417210" cy="4937878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0E1B36FE-BE96-4216-BD9B-A22B40BD6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53" y="1683277"/>
            <a:ext cx="4956289" cy="49378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DE05A29-9AF8-44FD-8F20-DE0DB0A51AC0}"/>
                  </a:ext>
                </a:extLst>
              </p:cNvPr>
              <p:cNvSpPr txBox="1"/>
              <p:nvPr/>
            </p:nvSpPr>
            <p:spPr>
              <a:xfrm>
                <a:off x="7680501" y="334330"/>
                <a:ext cx="4471569" cy="11065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zh-TW" altLang="en-US" sz="3200" i="0">
                          <a:latin typeface="Cambria Math" panose="02040503050406030204" pitchFamily="18" charset="0"/>
                        </a:rPr>
                        <m:t>=1200×</m:t>
                      </m:r>
                      <m:func>
                        <m:funcPr>
                          <m:ctrlPr>
                            <a:rPr lang="zh-TW" altLang="en-US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TW" alt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320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TW" altLang="en-US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zh-TW" alt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TW" altLang="en-US" sz="3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TW" altLang="en-US" sz="3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3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TW" altLang="en-US" sz="32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TW" altLang="en-US" sz="3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32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zh-TW" altLang="en-US" sz="3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DE05A29-9AF8-44FD-8F20-DE0DB0A51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501" y="334330"/>
                <a:ext cx="4471569" cy="1106521"/>
              </a:xfrm>
              <a:prstGeom prst="rect">
                <a:avLst/>
              </a:prstGeom>
              <a:blipFill>
                <a:blip r:embed="rId5"/>
                <a:stretch>
                  <a:fillRect b="-5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268E1E4E-6EFC-46E9-A3FE-D548CD7520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118" y="139873"/>
            <a:ext cx="7396425" cy="1495436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AEE55984-D891-4CBD-A98A-66FB26006073}"/>
              </a:ext>
            </a:extLst>
          </p:cNvPr>
          <p:cNvCxnSpPr>
            <a:cxnSpLocks/>
          </p:cNvCxnSpPr>
          <p:nvPr/>
        </p:nvCxnSpPr>
        <p:spPr>
          <a:xfrm flipH="1">
            <a:off x="7442791" y="1318437"/>
            <a:ext cx="1839435" cy="1493996"/>
          </a:xfrm>
          <a:prstGeom prst="straightConnector1">
            <a:avLst/>
          </a:prstGeom>
          <a:ln w="50800">
            <a:solidFill>
              <a:srgbClr val="FF0000">
                <a:alpha val="70000"/>
              </a:srgbClr>
            </a:solidFill>
            <a:prstDash val="sysDash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C6C76807-39A4-4CDA-8AFE-380364A24236}"/>
              </a:ext>
            </a:extLst>
          </p:cNvPr>
          <p:cNvCxnSpPr>
            <a:cxnSpLocks/>
          </p:cNvCxnSpPr>
          <p:nvPr/>
        </p:nvCxnSpPr>
        <p:spPr>
          <a:xfrm flipH="1">
            <a:off x="1616149" y="1318436"/>
            <a:ext cx="7666078" cy="1493997"/>
          </a:xfrm>
          <a:prstGeom prst="straightConnector1">
            <a:avLst/>
          </a:prstGeom>
          <a:ln w="50800">
            <a:solidFill>
              <a:srgbClr val="FF0000">
                <a:alpha val="70000"/>
              </a:srgbClr>
            </a:solidFill>
            <a:prstDash val="sysDash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640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5096A6-4923-4348-B26B-78CFE688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4CA5B60-8C29-49C5-93C2-0455E10C2A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688"/>
            <a:ext cx="12192000" cy="6516624"/>
          </a:xfrm>
        </p:spPr>
      </p:pic>
    </p:spTree>
    <p:extLst>
      <p:ext uri="{BB962C8B-B14F-4D97-AF65-F5344CB8AC3E}">
        <p14:creationId xmlns:p14="http://schemas.microsoft.com/office/powerpoint/2010/main" val="849360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B971A0-5E52-49A4-B85B-368FCBB13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8DB95D-0DD2-4A07-B991-9E70095B1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63C3E4-9B7C-4DF6-872C-BBAB83D66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8275"/>
            <a:ext cx="12192000" cy="652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06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D70468-AC48-4450-8B5D-392E2876A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0CE6E3-5D69-42C3-B948-0E8222A94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2FA868E-9D3E-4537-9E17-096C2C00B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8275"/>
            <a:ext cx="12192000" cy="6521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00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F1B410B8-6FEF-47EF-BD52-A35DFD3F8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076" y="2353797"/>
            <a:ext cx="5379874" cy="245572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E01122A-E924-4D43-B69E-8637B1D79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076" y="570333"/>
            <a:ext cx="5379874" cy="154239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58FBB89-4181-4E04-96F1-61ED03C39B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729" y="1341531"/>
            <a:ext cx="5726982" cy="3630958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AFC2DC58-B2FE-46BE-838F-28A43E64545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274" t="26794" r="1241" b="8214"/>
          <a:stretch/>
        </p:blipFill>
        <p:spPr>
          <a:xfrm>
            <a:off x="6218076" y="5125547"/>
            <a:ext cx="5651195" cy="69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140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DBD4E5-2E32-4135-A3A9-BFC3B91E1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總結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83AC9F-D36C-4C51-9F27-9095C1E13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0166" cy="4351338"/>
          </a:xfrm>
        </p:spPr>
        <p:txBody>
          <a:bodyPr>
            <a:normAutofit/>
          </a:bodyPr>
          <a:lstStyle/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一般調音器的邏輯是一定的音分範圍內都算判斷準確，因為每個設備外放或是樂器的音會有些許泛音或偏差音上的不同，非專業的收音設備可能會因為這些泛音而對不上標準音高頻率：</a:t>
            </a:r>
            <a:b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例如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A4 (440Hz)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可能就會測到偏高或是偏低，即便是由標準鋼琴發出的音。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用兩台手機交叉比對，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手機用鋼琴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APP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發出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A4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鍵，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B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手機測量到仍會高於  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440Hz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一點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</a:p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一般的電腦麥克風，容易收到環境或是電腦發出的高頻</a:t>
            </a:r>
            <a:r>
              <a:rPr lang="en-US" altLang="zh-TW" sz="2400" dirty="0">
                <a:latin typeface="Consolas" panose="020B0609020204030204" pitchFamily="49" charset="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Consolas" panose="020B0609020204030204" pitchFamily="49" charset="0"/>
                <a:ea typeface="標楷體" panose="03000509000000000000" pitchFamily="65" charset="-120"/>
              </a:rPr>
              <a:t>大約在第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6</a:t>
            </a:r>
            <a:r>
              <a:rPr lang="zh-TW" altLang="en-US" sz="2400" dirty="0">
                <a:latin typeface="Consolas" panose="020B0609020204030204" pitchFamily="49" charset="0"/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7</a:t>
            </a:r>
            <a:r>
              <a:rPr lang="zh-TW" altLang="en-US" sz="2400" dirty="0">
                <a:latin typeface="Consolas" panose="020B0609020204030204" pitchFamily="49" charset="0"/>
                <a:ea typeface="標楷體" panose="03000509000000000000" pitchFamily="65" charset="-120"/>
              </a:rPr>
              <a:t>組八度</a:t>
            </a:r>
            <a:r>
              <a:rPr lang="en-US" altLang="zh-TW" sz="2400" dirty="0">
                <a:latin typeface="Consolas" panose="020B0609020204030204" pitchFamily="49" charset="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Consolas" panose="020B0609020204030204" pitchFamily="49" charset="0"/>
                <a:ea typeface="標楷體" panose="03000509000000000000" pitchFamily="65" charset="-120"/>
              </a:rPr>
              <a:t>，這一點需要用程式或是硬體本身進行濾波處理。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實際上要分析歌曲調性技術複雜，需涉及到傅立葉轉換</a:t>
            </a:r>
            <a:r>
              <a:rPr lang="en-US" altLang="zh-TW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(Fourier transform, FT)</a:t>
            </a:r>
            <a:r>
              <a:rPr lang="zh-TW" altLang="en-US" sz="2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。</a:t>
            </a:r>
            <a:endParaRPr lang="en-US" altLang="zh-TW" sz="2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178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5148FA-0014-4A04-9A87-17E66529A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參考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47C2E4-E0FC-4B89-9770-5884C0166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466"/>
            <a:ext cx="10515600" cy="5139205"/>
          </a:xfrm>
        </p:spPr>
        <p:txBody>
          <a:bodyPr>
            <a:normAutofit/>
          </a:bodyPr>
          <a:lstStyle/>
          <a:p>
            <a:r>
              <a:rPr lang="en-US" altLang="zh-TW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Wiki-</a:t>
            </a:r>
            <a:r>
              <a:rPr lang="zh-TW" altLang="en-US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音高：</a:t>
            </a:r>
            <a:endParaRPr lang="en-US" altLang="zh-TW" sz="1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TW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   </a:t>
            </a:r>
            <a:r>
              <a:rPr lang="en-US" altLang="zh-TW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2"/>
              </a:rPr>
              <a:t>mailto:https://zh.wikipedia.org/zh-tw/%E9%9F%B3%E9%AB%98</a:t>
            </a:r>
            <a:endParaRPr lang="en-US" altLang="zh-TW" sz="1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TW" altLang="en-US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   </a:t>
            </a:r>
            <a:r>
              <a:rPr lang="en-US" altLang="zh-TW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3"/>
              </a:rPr>
              <a:t>mailto:https://zh.wikipedia.org/zh-</a:t>
            </a:r>
            <a:r>
              <a:rPr lang="zh-TW" altLang="en-US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  </a:t>
            </a:r>
            <a:r>
              <a:rPr lang="en-US" altLang="zh-TW" sz="1600" dirty="0" err="1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4"/>
              </a:rPr>
              <a:t>tw</a:t>
            </a:r>
            <a:r>
              <a:rPr lang="en-US" altLang="zh-TW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4"/>
              </a:rPr>
              <a:t>/%E4%BA%BA%E5%A3%B0%E9%9F%B3%E5%9F%9F</a:t>
            </a:r>
            <a:endParaRPr lang="en-US" altLang="zh-TW" sz="1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en-US" altLang="zh-TW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Naudio</a:t>
            </a:r>
            <a:r>
              <a:rPr lang="zh-TW" altLang="en-US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套件：</a:t>
            </a:r>
            <a:endParaRPr lang="en-US" altLang="zh-TW" sz="1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en-US" altLang="zh-TW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5"/>
              </a:rPr>
              <a:t>mailto:https://github.com/naudio/NAudio?tab=readme-ov-file</a:t>
            </a:r>
            <a:endParaRPr lang="en-US" altLang="zh-TW" sz="1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zh-TW" altLang="en-US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好和弦：</a:t>
            </a:r>
            <a:endParaRPr lang="en-US" altLang="zh-TW" sz="1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TW" altLang="en-US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   </a:t>
            </a:r>
            <a:r>
              <a:rPr lang="en-US" altLang="zh-TW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6"/>
              </a:rPr>
              <a:t>mailto:https://nicechord.com/post/major-and-minor-modes/</a:t>
            </a:r>
            <a:endParaRPr lang="en-US" altLang="zh-TW" sz="1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en-US" altLang="zh-TW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Think DSP: Digital Signal Processing in Python by Allen B. Downey) </a:t>
            </a:r>
            <a:r>
              <a:rPr lang="zh-TW" altLang="en-US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中譯電子書：</a:t>
            </a:r>
            <a:endParaRPr lang="en-US" altLang="zh-TW" sz="1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en-US" altLang="zh-TW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7"/>
              </a:rPr>
              <a:t>mailto:https://timag-shield.blogspot.com/2017/04/thinkdsp_82.html</a:t>
            </a:r>
            <a:endParaRPr lang="en-US" altLang="zh-TW" sz="1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en-US" altLang="zh-TW" sz="1600" dirty="0" err="1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Naudio</a:t>
            </a:r>
            <a:r>
              <a:rPr lang="en-US" altLang="zh-TW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stack overflow</a:t>
            </a:r>
            <a:r>
              <a:rPr lang="zh-TW" altLang="en-US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endParaRPr lang="en-US" altLang="zh-TW" sz="1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TW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   </a:t>
            </a:r>
            <a:r>
              <a:rPr lang="en-US" altLang="zh-TW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8"/>
              </a:rPr>
              <a:t>mailto:https://stackoverflow.com/questions/tagged/naudio?tab=newest&amp;page=1&amp;pagesize=15</a:t>
            </a:r>
            <a:endParaRPr lang="en-US" altLang="zh-TW" sz="1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zh-TW" altLang="en-US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音高測量相關影片：</a:t>
            </a:r>
            <a:endParaRPr lang="en-US" altLang="zh-TW" sz="1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TW" altLang="en-US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   </a:t>
            </a:r>
            <a:r>
              <a:rPr lang="en-US" altLang="zh-TW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9"/>
              </a:rPr>
              <a:t>mailto:https://www.bilibili.com/video/BV1tj411T71P/?spm_id_from=333.337.search-</a:t>
            </a:r>
            <a:r>
              <a:rPr lang="zh-TW" altLang="en-US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9"/>
              </a:rPr>
              <a:t> </a:t>
            </a:r>
            <a:r>
              <a:rPr lang="en-US" altLang="zh-TW" sz="1600" dirty="0" err="1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9"/>
              </a:rPr>
              <a:t>card.all.click&amp;vd_source</a:t>
            </a:r>
            <a:r>
              <a:rPr lang="en-US" altLang="zh-TW" sz="16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  <a:hlinkClick r:id="rId9"/>
              </a:rPr>
              <a:t>=88ea28052682913da01ac2ec14baf19d</a:t>
            </a:r>
            <a:endParaRPr lang="en-US" altLang="zh-TW" sz="1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274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9435</TotalTime>
  <Words>1129</Words>
  <Application>Microsoft Office PowerPoint</Application>
  <PresentationFormat>寬螢幕</PresentationFormat>
  <Paragraphs>80</Paragraphs>
  <Slides>13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標楷體</vt:lpstr>
      <vt:lpstr>Arial</vt:lpstr>
      <vt:lpstr>Calibri</vt:lpstr>
      <vt:lpstr>Calibri Light</vt:lpstr>
      <vt:lpstr>Cambria Math</vt:lpstr>
      <vt:lpstr>Consolas</vt:lpstr>
      <vt:lpstr>Office 佈景主題</vt:lpstr>
      <vt:lpstr>PowerPoint 簡報</vt:lpstr>
      <vt:lpstr>功能及應用</vt:lpstr>
      <vt:lpstr>基本知識</vt:lpstr>
      <vt:lpstr>PowerPoint 簡報</vt:lpstr>
      <vt:lpstr>泛音列(Harmonic series)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總結</vt:lpstr>
      <vt:lpstr>參考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Howard Gu(古皓宇)</dc:creator>
  <cp:lastModifiedBy>Howard Gu(古皓宇)</cp:lastModifiedBy>
  <cp:revision>129</cp:revision>
  <dcterms:created xsi:type="dcterms:W3CDTF">2024-12-16T07:45:55Z</dcterms:created>
  <dcterms:modified xsi:type="dcterms:W3CDTF">2025-01-02T09:20:45Z</dcterms:modified>
</cp:coreProperties>
</file>