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69" r:id="rId3"/>
    <p:sldId id="267" r:id="rId4"/>
    <p:sldId id="259" r:id="rId5"/>
    <p:sldId id="260" r:id="rId6"/>
    <p:sldId id="271" r:id="rId7"/>
    <p:sldId id="273" r:id="rId8"/>
    <p:sldId id="258" r:id="rId9"/>
    <p:sldId id="279" r:id="rId10"/>
    <p:sldId id="278" r:id="rId11"/>
    <p:sldId id="270" r:id="rId12"/>
    <p:sldId id="277" r:id="rId13"/>
    <p:sldId id="264" r:id="rId14"/>
    <p:sldId id="262" r:id="rId1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13CF5F-F7FE-4C60-8BAA-96CD33FF18AC}" type="datetimeFigureOut">
              <a:rPr lang="zh-TW" altLang="en-US" smtClean="0"/>
              <a:t>2024/12/30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85D06F-C5C6-4EC7-8C43-7BC9C830550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61542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25491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76EA00-0D6A-4D68-8EFD-CD41D380B2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8C081F0-0180-44EB-8575-D79CE195F3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F9875D0-B982-471E-AC77-4B4BA747B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2024/12/30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FD28CCD-3E2A-47BC-8526-66765A9B8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E53DA75-971B-4650-A67A-876D018D1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58734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A7EB4CA-B987-4A44-B4DD-F84311BA2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E32B252-D152-4988-BA6F-16CF294E7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2F64C45-9D0F-4FE2-A1A0-BD45502D8B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2024/12/30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A3E5784-39AE-4A35-9D16-A92998BB9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4395544-FE41-42FC-BF2B-B0B4B80DF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93127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F253A0-4B60-4872-8633-0EE298D7A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2C91083-3940-451A-A60F-A3F9DCB041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60EA7F5-23ED-4A41-B509-DC12B1C11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2024/12/30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83141A1-724C-4E03-B9E3-C3302D17F5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99D9731-8A75-4D81-8C7D-145545A39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153202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099F9C-5686-463E-BF44-07796F439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BD0EA1C-6D49-4E42-89F8-D68FF53D80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2078007-A5B0-4581-9A2A-A8342AF408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3D390AA6-E7FD-4F4C-AFC6-3A74B2537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2024/12/30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B1664D8-5F99-4E47-8615-EF7EF4EA0E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3D24143-8555-4401-AF36-4FBEB21A8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20660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01C0191-40FF-48E4-94B4-02AB15755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2DA352B-A7B2-49A5-916D-96340F33AF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04B8BDE-2B4F-4EB0-AD05-FB8570F307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EE2D0368-7E6C-47B7-B2C0-BE8E4D75D2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0113D543-31A7-4A2A-83C2-758D50196F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483BB532-C489-4AB7-981D-45ACE7101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2024/12/30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7FAE673-35DE-408C-A8F4-A8D11B26D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EDC0B114-3B2F-41E4-AB67-518CCF3EB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18665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A0D110-4551-419C-8D3A-786A026C2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0645198B-3B07-4091-9688-037CBB875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2024/12/30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973518BA-6A70-4496-A6F4-FDB818B2C5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67C6FA6C-CBE8-4E69-98F9-9CC5412D5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610233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5AD11071-D575-45B8-BE13-4BB8820A4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2024/12/30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8E2C0DD5-FE28-4155-A3F0-390D46344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313A572-791E-4DD6-B522-54FED4DAE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28261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7B7F91-EE69-4779-B1FE-E188CB0C6B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0190EE0-8539-4BB2-8297-831049D9BF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64AA7E2E-DDD3-444A-8407-4F363861B3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ED2C95AA-644F-4CEF-B6EB-0E25F8DDC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2024/12/30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E867814-2ADF-46C9-B298-4D6B2FB30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F37947C-41A4-44AF-8E5D-6F7696B1E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14859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B96EE34-0084-45C1-A12E-59E9DCCE55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B8117B13-F442-4DFE-B120-5F21BA6AA2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00D047FC-7CB2-484D-9F01-16181BD146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C3B61DF5-D529-402B-AD55-DAA44FD86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2024/12/30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56B8F04-C2E3-4EE1-9975-1A440C0AC7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7FD2526-0399-4E25-9E4B-D646B448C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471055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9ED063-BF47-4B74-8075-6FD55ABE9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56E93511-69A6-4069-80DE-352CB9E0A4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706AE99-860A-41DD-99DE-8C5D8C479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2024/12/30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44C652B-EAAE-4171-975C-D7D1DB5FB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37CF27D-5BE5-4868-98CB-74C599E9D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24205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10676BC9-F8AD-46F4-A41B-8581573D46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184DFE9D-6140-4A69-8A2B-4764B563C4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CF411FB-AAAA-48E0-810F-76954D8A7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2024/12/30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E6BF75A-31DA-4DE9-9DCB-FAD75A2B6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5B10F9D-B19E-49E6-9693-307FCBBEC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67012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D94AEAB3-0BC0-475F-BC47-36E582E8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52BE48E-851D-48DD-A850-DD027CFA16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C79C306-ABB3-45C6-8866-A700B32F4D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822A52-CB54-4445-AC34-F501DA2D4712}" type="datetimeFigureOut">
              <a:rPr lang="zh-TW" altLang="en-US" smtClean="0"/>
              <a:t>2024/12/30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FD23E25-E915-4666-80F8-75A504B2D0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EE87582-D016-4054-935A-3035048F8F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8178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mailto:https://github.com/naudio/NAudio?tab=readme-ov-file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7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mailto:https://www.bilibili.com/video/BV1tj411T71P/?spm_id_from=333.337.search-card.all.click&amp;vd_source=88ea28052682913da01ac2ec14baf19d" TargetMode="External"/><Relationship Id="rId3" Type="http://schemas.openxmlformats.org/officeDocument/2006/relationships/hyperlink" Target="mailto:https://zh.wikipedia.org/zh-" TargetMode="External"/><Relationship Id="rId7" Type="http://schemas.openxmlformats.org/officeDocument/2006/relationships/hyperlink" Target="mailto:https://timag-shield.blogspot.com/2017/04/thinkdsp_82.html" TargetMode="External"/><Relationship Id="rId2" Type="http://schemas.openxmlformats.org/officeDocument/2006/relationships/hyperlink" Target="mailto:https://zh.wikipedia.org/zh-tw/%E9%9F%B3%E9%AB%98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mailto:https://nicechord.com/post/major-and-minor-modes/" TargetMode="External"/><Relationship Id="rId5" Type="http://schemas.openxmlformats.org/officeDocument/2006/relationships/hyperlink" Target="mailto:https://github.com/naudio/NAudio?tab=readme-ov-file" TargetMode="External"/><Relationship Id="rId4" Type="http://schemas.openxmlformats.org/officeDocument/2006/relationships/hyperlink" Target="mailto:https://zh.wikipedia.org/zh-tw/%E4%BA%BA%E5%A3%B0%E9%9F%B3%E5%9F%9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標題 2">
            <a:extLst>
              <a:ext uri="{FF2B5EF4-FFF2-40B4-BE49-F238E27FC236}">
                <a16:creationId xmlns:a16="http://schemas.microsoft.com/office/drawing/2014/main" id="{168A6BEB-3BEB-4E05-9369-87FB26EC39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3767203"/>
            <a:ext cx="9144000" cy="1874840"/>
          </a:xfrm>
        </p:spPr>
        <p:txBody>
          <a:bodyPr>
            <a:normAutofit fontScale="92500" lnSpcReduction="20000"/>
          </a:bodyPr>
          <a:lstStyle/>
          <a:p>
            <a:r>
              <a:rPr lang="en-US" altLang="zh-TW" dirty="0">
                <a:latin typeface="Consolas" panose="020B0609020204030204" pitchFamily="49" charset="0"/>
              </a:rPr>
              <a:t>NAudio is an open source .NET audio library written </a:t>
            </a:r>
          </a:p>
          <a:p>
            <a:r>
              <a:rPr lang="en-US" altLang="zh-TW" dirty="0">
                <a:latin typeface="Consolas" panose="020B0609020204030204" pitchFamily="49" charset="0"/>
              </a:rPr>
              <a:t>by Mark Heath</a:t>
            </a:r>
          </a:p>
          <a:p>
            <a:r>
              <a:rPr lang="en-US" altLang="zh-TW" dirty="0">
                <a:latin typeface="Consolas" panose="020B0609020204030204" pitchFamily="49" charset="0"/>
                <a:hlinkClick r:id="rId2"/>
              </a:rPr>
              <a:t>mailto:https://github.com/naudio/NAudio?tab=readme-ov-file</a:t>
            </a:r>
            <a:endParaRPr lang="en-US" altLang="zh-TW" dirty="0">
              <a:latin typeface="Consolas" panose="020B0609020204030204" pitchFamily="49" charset="0"/>
            </a:endParaRPr>
          </a:p>
          <a:p>
            <a:endParaRPr lang="en-US" altLang="zh-TW" dirty="0">
              <a:latin typeface="Consolas" panose="020B0609020204030204" pitchFamily="49" charset="0"/>
            </a:endParaRPr>
          </a:p>
          <a:p>
            <a:r>
              <a:rPr lang="en-US" altLang="zh-TW" dirty="0">
                <a:latin typeface="Consolas" panose="020B0609020204030204" pitchFamily="49" charset="0"/>
              </a:rPr>
              <a:t>Howard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20A3553-C5CF-4B73-810D-FB2D04ABF2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8010" y="1974849"/>
            <a:ext cx="5895975" cy="1362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90728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AB5F4C-0DE3-4D89-BF43-06D138968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介紹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005726F-2A5C-446C-9A3E-FFA71958BF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生活中任何物理、化學現象都能以頻率表示，而聲音是頻率在大腦中的體現。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EBD1B938-DBA6-4B72-9630-CFDCF0E104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4929" y="2655421"/>
            <a:ext cx="6822141" cy="3837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069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4DC5B8-0A57-4772-8EF5-FF29245F6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功能及應用</a:t>
            </a: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AF94DD1B-CDA2-43E5-A806-5E8E63AA1F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35" y="1762124"/>
            <a:ext cx="11990729" cy="4191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947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640546-EB3B-413A-89E4-F3A1D2712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基本知識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D388685-382F-4E73-91BB-5EA4D4F9814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國際標準音高將</a:t>
                </a:r>
                <a14:m>
                  <m:oMath xmlns:m="http://schemas.openxmlformats.org/officeDocument/2006/math">
                    <m:r>
                      <a:rPr lang="zh-TW" alt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zh-TW" i="1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altLang="zh-TW" sz="280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zh-TW" alt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定為 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440(Hz)</a:t>
                </a:r>
                <a:r>
                  <a:rPr lang="zh-TW" altLang="en-US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，即為每秒震動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440</a:t>
                </a:r>
                <a:r>
                  <a:rPr lang="zh-TW" altLang="en-US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次。</a:t>
                </a:r>
                <a:endParaRPr lang="en-US" altLang="zh-TW" dirty="0">
                  <a:latin typeface="Consolas" panose="020B0609020204030204" pitchFamily="49" charset="0"/>
                  <a:ea typeface="標楷體" panose="03000509000000000000" pitchFamily="65" charset="-120"/>
                </a:endParaRPr>
              </a:p>
              <a:p>
                <a:pPr marL="0" indent="0">
                  <a:buNone/>
                </a:pPr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 由以下方程式可得知</a:t>
                </a:r>
                <a14:m>
                  <m:oMath xmlns:m="http://schemas.openxmlformats.org/officeDocument/2006/math">
                    <m:r>
                      <a:rPr lang="zh-TW" alt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zh-TW" i="1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4</m:t>
                    </m:r>
                    <m:r>
                      <a:rPr lang="zh-TW" altLang="en-US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這個音所對應的</a:t>
                </a:r>
                <a14:m>
                  <m:oMath xmlns:m="http://schemas.openxmlformats.org/officeDocument/2006/math">
                    <m:r>
                      <a:rPr lang="zh-TW" altLang="en-US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zh-TW" altLang="en-US" sz="28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為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69</a:t>
                </a:r>
                <a:r>
                  <a:rPr lang="zh-TW" altLang="en-US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。</a:t>
                </a:r>
                <a:endParaRPr lang="en-US" altLang="zh-TW" dirty="0">
                  <a:latin typeface="Consolas" panose="020B0609020204030204" pitchFamily="49" charset="0"/>
                  <a:ea typeface="標楷體" panose="03000509000000000000" pitchFamily="65" charset="-120"/>
                </a:endParaRPr>
              </a:p>
              <a:p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每個八度大小定義為 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12</a:t>
                </a:r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 半音。</a:t>
                </a:r>
                <a:endParaRPr lang="en-US" altLang="zh-TW" dirty="0"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  <a:p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每個半音之間相差一個音程。</a:t>
                </a:r>
                <a:endParaRPr lang="en-US" altLang="zh-TW" dirty="0"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  <a:p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定義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1200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音分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(cent)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為一個八度音程</a:t>
                </a:r>
              </a:p>
            </p:txBody>
          </p:sp>
        </mc:Choice>
        <mc:Fallback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D388685-382F-4E73-91BB-5EA4D4F981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5B6088C4-5344-435C-8646-EACA9D63C59E}"/>
                  </a:ext>
                </a:extLst>
              </p:cNvPr>
              <p:cNvSpPr txBox="1"/>
              <p:nvPr/>
            </p:nvSpPr>
            <p:spPr>
              <a:xfrm>
                <a:off x="6565358" y="4469482"/>
                <a:ext cx="4676574" cy="56188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zh-TW" altLang="en-US" sz="2400" i="0">
                          <a:latin typeface="Cambria Math" panose="02040503050406030204" pitchFamily="18" charset="0"/>
                        </a:rPr>
                        <m:t>=440×</m:t>
                      </m:r>
                      <m:sSup>
                        <m:sSupPr>
                          <m:ctrlPr>
                            <a:rPr lang="zh-TW" altLang="en-US" sz="2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sz="2400" i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f>
                            <m:fPr>
                              <m:ctrlPr>
                                <a:rPr lang="zh-TW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zh-TW" altLang="en-US" sz="2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TW" altLang="en-US" sz="24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zh-TW" altLang="en-US" sz="2400" i="0">
                                      <a:latin typeface="Cambria Math" panose="02040503050406030204" pitchFamily="18" charset="0"/>
                                    </a:rPr>
                                    <m:t>−69</m:t>
                                  </m:r>
                                </m:e>
                              </m:d>
                            </m:num>
                            <m:den>
                              <m:r>
                                <a:rPr lang="zh-TW" altLang="en-US" sz="2400" i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5B6088C4-5344-435C-8646-EACA9D63C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5358" y="4469482"/>
                <a:ext cx="4676574" cy="56188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3E5B5338-BD42-438F-873C-43680D3A112B}"/>
                  </a:ext>
                </a:extLst>
              </p:cNvPr>
              <p:cNvSpPr txBox="1"/>
              <p:nvPr/>
            </p:nvSpPr>
            <p:spPr>
              <a:xfrm>
                <a:off x="7553529" y="5031367"/>
                <a:ext cx="3800271" cy="9221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i="1" dirty="0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zh-TW" altLang="en-US" sz="2400" i="0" dirty="0">
                          <a:latin typeface="Cambria Math" panose="02040503050406030204" pitchFamily="18" charset="0"/>
                        </a:rPr>
                        <m:t>=69+12×</m:t>
                      </m:r>
                      <m:func>
                        <m:funcPr>
                          <m:ctrlPr>
                            <a:rPr lang="zh-TW" altLang="en-US" sz="2400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zh-TW" altLang="en-US" sz="2400" i="1" dirty="0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2400" i="0" dirty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zh-TW" altLang="en-US" sz="2400" i="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ctrlPr>
                                <a:rPr lang="zh-TW" altLang="en-US" sz="2400" i="1" dirty="0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zh-TW" altLang="en-US" sz="2400" i="1" dirty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zh-TW" altLang="en-US" sz="2400" i="1" dirty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num>
                                <m:den>
                                  <m:r>
                                    <a:rPr lang="zh-TW" altLang="en-US" sz="2400" i="0" dirty="0">
                                      <a:latin typeface="Cambria Math" panose="02040503050406030204" pitchFamily="18" charset="0"/>
                                    </a:rPr>
                                    <m:t>440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sz="24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3E5B5338-BD42-438F-873C-43680D3A11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3529" y="5031367"/>
                <a:ext cx="3800271" cy="92217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4B3FEC1E-03AF-4602-B5CA-B3ED711EEEFF}"/>
                  </a:ext>
                </a:extLst>
              </p:cNvPr>
              <p:cNvSpPr txBox="1"/>
              <p:nvPr/>
            </p:nvSpPr>
            <p:spPr>
              <a:xfrm>
                <a:off x="2291423" y="4879413"/>
                <a:ext cx="3030657" cy="8298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zh-TW" altLang="en-US" sz="2400" i="0">
                          <a:latin typeface="Cambria Math" panose="02040503050406030204" pitchFamily="18" charset="0"/>
                        </a:rPr>
                        <m:t>=1200×</m:t>
                      </m:r>
                      <m:func>
                        <m:func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2400" i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zh-TW" altLang="en-US" sz="240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ctrlPr>
                                <a:rPr lang="zh-TW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zh-TW" altLang="en-US" sz="2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zh-TW" altLang="en-US" sz="2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zh-TW" altLang="en-US" sz="2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4B3FEC1E-03AF-4602-B5CA-B3ED711EE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1423" y="4879413"/>
                <a:ext cx="3030657" cy="8298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30413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>
            <a:extLst>
              <a:ext uri="{FF2B5EF4-FFF2-40B4-BE49-F238E27FC236}">
                <a16:creationId xmlns:a16="http://schemas.microsoft.com/office/drawing/2014/main" id="{A9DAA703-06E0-45BE-909D-672217DDCE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8815" y="2094166"/>
            <a:ext cx="5615946" cy="1513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21643FED-07D7-4A12-986C-B07FA308904E}"/>
                  </a:ext>
                </a:extLst>
              </p:cNvPr>
              <p:cNvSpPr txBox="1"/>
              <p:nvPr/>
            </p:nvSpPr>
            <p:spPr>
              <a:xfrm>
                <a:off x="6783265" y="1273102"/>
                <a:ext cx="4335451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zh-TW" altLang="en-US" sz="2400" i="1" smtClean="0">
                        <a:latin typeface="Cambria Math" panose="02040503050406030204" pitchFamily="18" charset="0"/>
                      </a:rPr>
                      <m:t>𝐶𝑏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4</m:t>
                    </m:r>
                    <m:r>
                      <a:rPr lang="zh-TW" alt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:</a:t>
                </a:r>
                <a:r>
                  <a:rPr lang="zh-TW" altLang="en-US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 代表</a:t>
                </a:r>
                <a:r>
                  <a:rPr lang="en-US" altLang="zh-TW" sz="2400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C4</a:t>
                </a:r>
                <a:r>
                  <a:rPr lang="zh-TW" altLang="en-US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這個音高降半音 </a:t>
                </a: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21643FED-07D7-4A12-986C-B07FA30890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3265" y="1273102"/>
                <a:ext cx="4335451" cy="369332"/>
              </a:xfrm>
              <a:prstGeom prst="rect">
                <a:avLst/>
              </a:prstGeom>
              <a:blipFill>
                <a:blip r:embed="rId5"/>
                <a:stretch>
                  <a:fillRect l="-2532" t="-28333" b="-5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F569E197-6A37-4FFA-A110-3DBE3271A53C}"/>
                  </a:ext>
                </a:extLst>
              </p:cNvPr>
              <p:cNvSpPr txBox="1"/>
              <p:nvPr/>
            </p:nvSpPr>
            <p:spPr>
              <a:xfrm>
                <a:off x="6783264" y="857556"/>
                <a:ext cx="4335451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zh-TW" altLang="en-US" sz="240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#</m:t>
                    </m:r>
                    <m:r>
                      <a:rPr lang="en-US" altLang="zh-TW" sz="240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zh-TW" alt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:</a:t>
                </a:r>
                <a:r>
                  <a:rPr lang="zh-TW" altLang="en-US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 代表</a:t>
                </a:r>
                <a:r>
                  <a:rPr lang="en-US" altLang="zh-TW" sz="2400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C4</a:t>
                </a:r>
                <a:r>
                  <a:rPr lang="zh-TW" altLang="en-US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這個音高升半音 </a:t>
                </a: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F569E197-6A37-4FFA-A110-3DBE3271A5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3264" y="857556"/>
                <a:ext cx="4335451" cy="369332"/>
              </a:xfrm>
              <a:prstGeom prst="rect">
                <a:avLst/>
              </a:prstGeom>
              <a:blipFill>
                <a:blip r:embed="rId6"/>
                <a:stretch>
                  <a:fillRect l="-2532" t="-28333" b="-5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圖片 10">
            <a:extLst>
              <a:ext uri="{FF2B5EF4-FFF2-40B4-BE49-F238E27FC236}">
                <a16:creationId xmlns:a16="http://schemas.microsoft.com/office/drawing/2014/main" id="{E187AC0F-1A69-41D0-8304-16DE2582C26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6501" y="4484071"/>
            <a:ext cx="8518998" cy="237392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5B4B8FE9-ECDB-427D-9AEE-E216B3F333A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704" y="110573"/>
            <a:ext cx="6266161" cy="4280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008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27AA2B-FF89-42CE-B9E5-F2C8F9CDE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泛音列</a:t>
            </a:r>
            <a:r>
              <a:rPr lang="en-US" altLang="zh-TW" b="1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(Harmonic series)</a:t>
            </a:r>
            <a:endParaRPr lang="zh-TW" altLang="en-US" b="1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0A5B91E-9772-4F8E-BFEF-EB9492AC55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發聲體除了會整體震動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基音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)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外還會部份震動</a:t>
            </a:r>
            <a:endParaRPr lang="en-US" altLang="zh-TW" sz="24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音叉除外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)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，這些微小的分段震動就會形成泛音</a:t>
            </a:r>
            <a:endParaRPr lang="en-US" altLang="zh-TW" sz="24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列</a:t>
            </a:r>
            <a:endParaRPr lang="en-US" altLang="zh-TW" sz="24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音色的成因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泛音 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+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偏差音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)</a:t>
            </a:r>
          </a:p>
          <a:p>
            <a:pPr marL="0" indent="0">
              <a:buNone/>
            </a:pP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  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(ex: 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鋼琴有高音更高，低音更低的特性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)</a:t>
            </a:r>
          </a:p>
          <a:p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基頻的整數倍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(2,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3,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4, 5,…)</a:t>
            </a:r>
          </a:p>
          <a:p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人的大腦會自動解析基頻為音高，泛音列為音色</a:t>
            </a:r>
          </a:p>
        </p:txBody>
      </p:sp>
      <p:pic>
        <p:nvPicPr>
          <p:cNvPr id="1028" name="Picture 4" descr="undefined">
            <a:extLst>
              <a:ext uri="{FF2B5EF4-FFF2-40B4-BE49-F238E27FC236}">
                <a16:creationId xmlns:a16="http://schemas.microsoft.com/office/drawing/2014/main" id="{9ED7A301-E4E7-45C9-86E1-27B016537D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68442" y="1728788"/>
            <a:ext cx="3685358" cy="3835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67429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0AD999-551A-4870-9B41-82B9E184F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4B29FF2-468A-46AF-8609-7F5ED81C87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043" y="776286"/>
            <a:ext cx="9657911" cy="503239"/>
          </a:xfrm>
          <a:prstGeom prst="rect">
            <a:avLst/>
          </a:prstGeom>
        </p:spPr>
      </p:pic>
      <p:sp>
        <p:nvSpPr>
          <p:cNvPr id="11" name="內容版面配置區 10">
            <a:extLst>
              <a:ext uri="{FF2B5EF4-FFF2-40B4-BE49-F238E27FC236}">
                <a16:creationId xmlns:a16="http://schemas.microsoft.com/office/drawing/2014/main" id="{FF535D7D-8804-4DC8-A5AB-622156FADF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4BCA8551-CAFF-4993-9762-DB3EAFEE5A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7898" y="1528761"/>
            <a:ext cx="7596203" cy="5034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1442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DAD5F66-2419-4BF2-8D37-B8A40101A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2BF9814-0C9A-4CA3-9E34-80BEA822F2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31DD6903-BBD2-40C6-8CA7-CE8920E4AB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8671" y="203175"/>
            <a:ext cx="8034657" cy="1389393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D9F75CA6-F5FA-4B12-B663-C63E427D35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647" y="1690688"/>
            <a:ext cx="6360460" cy="485906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9DE05A29-9AF8-44FD-8F20-DE0DB0A51AC0}"/>
                  </a:ext>
                </a:extLst>
              </p:cNvPr>
              <p:cNvSpPr txBox="1"/>
              <p:nvPr/>
            </p:nvSpPr>
            <p:spPr>
              <a:xfrm>
                <a:off x="8443928" y="3771899"/>
                <a:ext cx="3030657" cy="8298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zh-TW" altLang="en-US" sz="2400" i="0">
                          <a:latin typeface="Cambria Math" panose="02040503050406030204" pitchFamily="18" charset="0"/>
                        </a:rPr>
                        <m:t>=1200×</m:t>
                      </m:r>
                      <m:func>
                        <m:func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2400" i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zh-TW" altLang="en-US" sz="240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ctrlPr>
                                <a:rPr lang="zh-TW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zh-TW" altLang="en-US" sz="2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zh-TW" altLang="en-US" sz="2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zh-TW" altLang="en-US" sz="2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9DE05A29-9AF8-44FD-8F20-DE0DB0A51A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3928" y="3771899"/>
                <a:ext cx="3030657" cy="8298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直線單箭頭接點 8">
            <a:extLst>
              <a:ext uri="{FF2B5EF4-FFF2-40B4-BE49-F238E27FC236}">
                <a16:creationId xmlns:a16="http://schemas.microsoft.com/office/drawing/2014/main" id="{AEE55984-D891-4CBD-A98A-66FB26006073}"/>
              </a:ext>
            </a:extLst>
          </p:cNvPr>
          <p:cNvCxnSpPr>
            <a:cxnSpLocks/>
          </p:cNvCxnSpPr>
          <p:nvPr/>
        </p:nvCxnSpPr>
        <p:spPr>
          <a:xfrm flipH="1" flipV="1">
            <a:off x="6624918" y="3182471"/>
            <a:ext cx="2261911" cy="65610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66404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5096A6-4923-4348-B26B-78CFE6889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0CDB611-30F6-4482-9D5E-483293E6F3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A6081CA-A64D-4B93-9663-0A6CA5F75F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69863"/>
            <a:ext cx="12192000" cy="65166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93608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6B971A0-5E52-49A4-B85B-368FCBB13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8DB95D-0DD2-4A07-B991-9E70095B1A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163C3E4-9B7C-4DF6-872C-BBAB83D66D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68275"/>
            <a:ext cx="12192000" cy="6521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50063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DD70468-AC48-4450-8B5D-392E2876A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00CE6E3-5D69-42C3-B948-0E8222A94D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62FA868E-9D3E-4537-9E17-096C2C00B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68275"/>
            <a:ext cx="12192000" cy="65214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40008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8C0EAC7-D825-4FB0-9CF9-E03306591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FF22F99-23F1-4CAE-9342-DAE7162327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823B3453-B4C9-48F6-986D-E51181D8B4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935" y="257401"/>
            <a:ext cx="10000129" cy="6343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1407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7DBD4E5-2E32-4135-A3A9-BFC3B91E1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總結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283AC9F-D36C-4C51-9F27-9095C1E13E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50166" cy="4351338"/>
          </a:xfrm>
        </p:spPr>
        <p:txBody>
          <a:bodyPr>
            <a:normAutofit/>
          </a:bodyPr>
          <a:lstStyle/>
          <a:p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一般調音器的邏輯是一定的音分範圍內都算判斷準確，因為每個設備外放或是樂器的音會有些許泛音上的不同，非專業的收音設備可能會因為這些泛音而對不上標準音高頻率：</a:t>
            </a:r>
            <a:b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</a:b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例如 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A4 (440Hz)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可能就會測到偏高或是偏低，即便是由標準鋼琴發出的音。</a:t>
            </a:r>
            <a:endParaRPr lang="en-US" altLang="zh-TW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  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用兩台手機交叉比對，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A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手機用鋼琴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APP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發出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A4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鍵，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B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手機測量到仍會高於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440Hz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一點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)</a:t>
            </a:r>
          </a:p>
          <a:p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一般的麥克風，容易收到環境或是電腦發出的高頻</a:t>
            </a:r>
            <a:r>
              <a:rPr lang="en-US" altLang="zh-TW" sz="2000" dirty="0">
                <a:latin typeface="Consolas" panose="020B0609020204030204" pitchFamily="49" charset="0"/>
                <a:ea typeface="標楷體" panose="03000509000000000000" pitchFamily="65" charset="-120"/>
              </a:rPr>
              <a:t>(</a:t>
            </a:r>
            <a:r>
              <a:rPr lang="zh-TW" altLang="en-US" sz="2000" dirty="0">
                <a:latin typeface="Consolas" panose="020B0609020204030204" pitchFamily="49" charset="0"/>
                <a:ea typeface="標楷體" panose="03000509000000000000" pitchFamily="65" charset="-120"/>
              </a:rPr>
              <a:t>大約在第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6</a:t>
            </a:r>
            <a:r>
              <a:rPr lang="zh-TW" altLang="en-US" sz="2000" dirty="0">
                <a:latin typeface="Consolas" panose="020B0609020204030204" pitchFamily="49" charset="0"/>
                <a:ea typeface="標楷體" panose="03000509000000000000" pitchFamily="65" charset="-120"/>
              </a:rPr>
              <a:t>、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7</a:t>
            </a:r>
            <a:r>
              <a:rPr lang="zh-TW" altLang="en-US" sz="2000" dirty="0">
                <a:latin typeface="Consolas" panose="020B0609020204030204" pitchFamily="49" charset="0"/>
                <a:ea typeface="標楷體" panose="03000509000000000000" pitchFamily="65" charset="-120"/>
              </a:rPr>
              <a:t>組八度</a:t>
            </a:r>
            <a:r>
              <a:rPr lang="en-US" altLang="zh-TW" sz="2000" dirty="0">
                <a:latin typeface="Consolas" panose="020B0609020204030204" pitchFamily="49" charset="0"/>
                <a:ea typeface="標楷體" panose="03000509000000000000" pitchFamily="65" charset="-120"/>
              </a:rPr>
              <a:t>)</a:t>
            </a:r>
            <a:r>
              <a:rPr lang="zh-TW" altLang="en-US" sz="2000" dirty="0">
                <a:latin typeface="Consolas" panose="020B0609020204030204" pitchFamily="49" charset="0"/>
                <a:ea typeface="標楷體" panose="03000509000000000000" pitchFamily="65" charset="-120"/>
              </a:rPr>
              <a:t>，這一點需要用程式或是硬體本身進行濾波處理。</a:t>
            </a:r>
            <a:endParaRPr lang="en-US" altLang="zh-TW" sz="2000" dirty="0">
              <a:latin typeface="Consolas" panose="020B0609020204030204" pitchFamily="49" charset="0"/>
              <a:ea typeface="標楷體" panose="03000509000000000000" pitchFamily="65" charset="-120"/>
            </a:endParaRPr>
          </a:p>
          <a:p>
            <a:r>
              <a:rPr lang="zh-TW" altLang="en-US" sz="2000" dirty="0">
                <a:latin typeface="Consolas" panose="020B0609020204030204" pitchFamily="49" charset="0"/>
                <a:ea typeface="標楷體" panose="03000509000000000000" pitchFamily="65" charset="-120"/>
              </a:rPr>
              <a:t>只要是自然發出的音頻</a:t>
            </a:r>
            <a:r>
              <a:rPr lang="en-US" altLang="zh-TW" sz="2000" dirty="0">
                <a:latin typeface="Consolas" panose="020B0609020204030204" pitchFamily="49" charset="0"/>
                <a:ea typeface="標楷體" panose="03000509000000000000" pitchFamily="65" charset="-120"/>
              </a:rPr>
              <a:t>(</a:t>
            </a:r>
            <a:r>
              <a:rPr lang="zh-TW" altLang="en-US" sz="2000" dirty="0">
                <a:latin typeface="Consolas" panose="020B0609020204030204" pitchFamily="49" charset="0"/>
                <a:ea typeface="標楷體" panose="03000509000000000000" pitchFamily="65" charset="-120"/>
              </a:rPr>
              <a:t>不包含音叉</a:t>
            </a:r>
            <a:r>
              <a:rPr lang="en-US" altLang="zh-TW" sz="2000" dirty="0">
                <a:latin typeface="Consolas" panose="020B0609020204030204" pitchFamily="49" charset="0"/>
                <a:ea typeface="標楷體" panose="03000509000000000000" pitchFamily="65" charset="-120"/>
              </a:rPr>
              <a:t>)</a:t>
            </a:r>
            <a:r>
              <a:rPr lang="zh-TW" altLang="en-US" sz="2000" dirty="0">
                <a:latin typeface="Consolas" panose="020B0609020204030204" pitchFamily="49" charset="0"/>
                <a:ea typeface="標楷體" panose="03000509000000000000" pitchFamily="65" charset="-120"/>
              </a:rPr>
              <a:t>，就會有泛音列</a:t>
            </a:r>
            <a:r>
              <a:rPr lang="en-US" altLang="zh-TW" sz="2000" dirty="0">
                <a:latin typeface="Consolas" panose="020B0609020204030204" pitchFamily="49" charset="0"/>
                <a:ea typeface="標楷體" panose="03000509000000000000" pitchFamily="65" charset="-120"/>
              </a:rPr>
              <a:t>(</a:t>
            </a:r>
            <a:r>
              <a:rPr lang="zh-TW" altLang="en-US" sz="2000" dirty="0">
                <a:latin typeface="Consolas" panose="020B0609020204030204" pitchFamily="49" charset="0"/>
                <a:ea typeface="標楷體" panose="03000509000000000000" pitchFamily="65" charset="-120"/>
              </a:rPr>
              <a:t>形成駐波</a:t>
            </a:r>
            <a:r>
              <a:rPr lang="en-US" altLang="zh-TW" sz="2000" dirty="0">
                <a:latin typeface="Consolas" panose="020B0609020204030204" pitchFamily="49" charset="0"/>
                <a:ea typeface="標楷體" panose="03000509000000000000" pitchFamily="65" charset="-120"/>
              </a:rPr>
              <a:t>)</a:t>
            </a:r>
            <a:r>
              <a:rPr lang="zh-TW" altLang="en-US" sz="2000" dirty="0">
                <a:latin typeface="Consolas" panose="020B0609020204030204" pitchFamily="49" charset="0"/>
                <a:ea typeface="標楷體" panose="03000509000000000000" pitchFamily="65" charset="-120"/>
              </a:rPr>
              <a:t>，實際物體的泛音會受到材質的影響形成偏差音，而收音器也會受到泛音的影響而結果不同。</a:t>
            </a:r>
            <a:endParaRPr lang="en-US" altLang="zh-TW" sz="2000" dirty="0">
              <a:latin typeface="Consolas" panose="020B0609020204030204" pitchFamily="49" charset="0"/>
              <a:ea typeface="標楷體" panose="03000509000000000000" pitchFamily="65" charset="-120"/>
            </a:endParaRPr>
          </a:p>
          <a:p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實際上要分析歌曲調性技術複雜，需涉及到傅立葉轉換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(Fourier transform, FT)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。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01786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B5148FA-0014-4A04-9A87-17E66529A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參考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347C2E4-E0FC-4B89-9770-5884C01660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53670"/>
            <a:ext cx="10515600" cy="5139205"/>
          </a:xfrm>
        </p:spPr>
        <p:txBody>
          <a:bodyPr>
            <a:normAutofit/>
          </a:bodyPr>
          <a:lstStyle/>
          <a:p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Wiki-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音高：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   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2"/>
              </a:rPr>
              <a:t>mailto:https://zh.wikipedia.org/zh-tw/%E9%9F%B3%E9%AB%98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   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3"/>
              </a:rPr>
              <a:t>mailto:https://zh.wikipedia.org/zh-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  </a:t>
            </a:r>
            <a:r>
              <a:rPr lang="en-US" altLang="zh-TW" sz="2000" dirty="0" err="1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4"/>
              </a:rPr>
              <a:t>tw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4"/>
              </a:rPr>
              <a:t>/%E4%BA%BA%E5%A3%B0%E9%9F%B3%E5%9F%9F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Naudio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套件：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5"/>
              </a:rPr>
              <a:t>mailto:https://github.com/naudio/NAudio?tab=readme-ov-file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好和弦：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   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6"/>
              </a:rPr>
              <a:t>mailto:https://nicechord.com/post/major-and-minor-modes/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Think DSP: Digital Signal Processing in Python by Allen B. Downey) 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中譯電子書：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7"/>
              </a:rPr>
              <a:t>mailto:https://timag-shield.blogspot.com/2017/04/thinkdsp_82.html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音高測量相關影片：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   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8"/>
              </a:rPr>
              <a:t>mailto:https://www.bilibili.com/video/BV1tj411T71P/?spm_id_from=333.337.search-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8"/>
              </a:rPr>
              <a:t> </a:t>
            </a:r>
            <a:r>
              <a:rPr lang="en-US" altLang="zh-TW" sz="2000" dirty="0" err="1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8"/>
              </a:rPr>
              <a:t>card.all.click&amp;vd_source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8"/>
              </a:rPr>
              <a:t>=88ea28052682913da01ac2ec14baf19d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22749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7526</TotalTime>
  <Words>634</Words>
  <Application>Microsoft Office PowerPoint</Application>
  <PresentationFormat>寬螢幕</PresentationFormat>
  <Paragraphs>47</Paragraphs>
  <Slides>14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14</vt:i4>
      </vt:variant>
    </vt:vector>
  </HeadingPairs>
  <TitlesOfParts>
    <vt:vector size="21" baseType="lpstr">
      <vt:lpstr>標楷體</vt:lpstr>
      <vt:lpstr>Arial</vt:lpstr>
      <vt:lpstr>Calibri</vt:lpstr>
      <vt:lpstr>Calibri Light</vt:lpstr>
      <vt:lpstr>Cambria Math</vt:lpstr>
      <vt:lpstr>Consolas</vt:lpstr>
      <vt:lpstr>Office 佈景主題</vt:lpstr>
      <vt:lpstr>PowerPoint 簡報</vt:lpstr>
      <vt:lpstr>介紹</vt:lpstr>
      <vt:lpstr>功能及應用</vt:lpstr>
      <vt:lpstr>基本知識</vt:lpstr>
      <vt:lpstr>PowerPoint 簡報</vt:lpstr>
      <vt:lpstr>泛音列(Harmonic series)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總結</vt:lpstr>
      <vt:lpstr>參考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Howard Gu(古皓宇)</dc:creator>
  <cp:lastModifiedBy>Howard Gu(古皓宇)</cp:lastModifiedBy>
  <cp:revision>81</cp:revision>
  <dcterms:created xsi:type="dcterms:W3CDTF">2024-12-16T07:45:55Z</dcterms:created>
  <dcterms:modified xsi:type="dcterms:W3CDTF">2024-12-30T09:22:18Z</dcterms:modified>
</cp:coreProperties>
</file>