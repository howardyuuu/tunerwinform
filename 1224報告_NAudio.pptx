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7" r:id="rId3"/>
    <p:sldId id="259" r:id="rId4"/>
    <p:sldId id="260" r:id="rId5"/>
    <p:sldId id="271" r:id="rId6"/>
    <p:sldId id="273" r:id="rId7"/>
    <p:sldId id="258" r:id="rId8"/>
    <p:sldId id="279" r:id="rId9"/>
    <p:sldId id="278" r:id="rId10"/>
    <p:sldId id="270" r:id="rId11"/>
    <p:sldId id="277" r:id="rId12"/>
    <p:sldId id="264" r:id="rId13"/>
    <p:sldId id="262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0285" autoAdjust="0"/>
  </p:normalViewPr>
  <p:slideViewPr>
    <p:cSldViewPr snapToGrid="0">
      <p:cViewPr varScale="1">
        <p:scale>
          <a:sx n="90" d="100"/>
          <a:sy n="90" d="100"/>
        </p:scale>
        <p:origin x="1356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13CF5F-F7FE-4C60-8BAA-96CD33FF18AC}" type="datetimeFigureOut">
              <a:rPr lang="zh-TW" altLang="en-US" smtClean="0"/>
              <a:t>2025/1/2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85D06F-C5C6-4EC7-8C43-7BC9C830550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1542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發想：</a:t>
            </a:r>
            <a:br>
              <a:rPr lang="en-US" altLang="zh-TW" dirty="0"/>
            </a:br>
            <a:r>
              <a:rPr lang="zh-TW" altLang="en-US" dirty="0"/>
              <a:t>原本是想做關於能分析歌曲調性的技術</a:t>
            </a:r>
            <a:br>
              <a:rPr lang="en-US" altLang="zh-TW" dirty="0"/>
            </a:br>
            <a:r>
              <a:rPr lang="zh-TW" altLang="en-US" dirty="0"/>
              <a:t>但發現涉及到的技術頗複雜</a:t>
            </a:r>
            <a:r>
              <a:rPr lang="en-US" altLang="zh-TW" dirty="0"/>
              <a:t>(FT)</a:t>
            </a:r>
            <a:br>
              <a:rPr lang="en-US" altLang="zh-TW" dirty="0"/>
            </a:br>
            <a:r>
              <a:rPr lang="zh-TW" altLang="en-US" dirty="0"/>
              <a:t>數學能力退步了</a:t>
            </a:r>
            <a:r>
              <a:rPr lang="en-US" altLang="zh-TW" dirty="0"/>
              <a:t>XD</a:t>
            </a:r>
          </a:p>
          <a:p>
            <a:r>
              <a:rPr lang="zh-TW" altLang="en-US" dirty="0"/>
              <a:t>所以改為做分析單一音頻高低</a:t>
            </a:r>
            <a:endParaRPr lang="en-US" altLang="zh-TW" dirty="0"/>
          </a:p>
          <a:p>
            <a:r>
              <a:rPr lang="zh-TW" altLang="en-US" dirty="0"/>
              <a:t>以及音頻播放功能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38162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為何會選擇這個套件：</a:t>
            </a:r>
            <a:endParaRPr lang="en-US" altLang="zh-TW" dirty="0"/>
          </a:p>
          <a:p>
            <a:r>
              <a:rPr lang="en-US" altLang="zh-TW" dirty="0"/>
              <a:t>1.</a:t>
            </a:r>
            <a:r>
              <a:rPr lang="zh-TW" altLang="en-US" dirty="0"/>
              <a:t> 免費開源</a:t>
            </a:r>
            <a:r>
              <a:rPr lang="en-US" altLang="zh-TW" dirty="0"/>
              <a:t>,</a:t>
            </a:r>
            <a:r>
              <a:rPr lang="zh-TW" altLang="en-US" dirty="0"/>
              <a:t>技術成熟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 幾乎能處理音訊處裡各種方面</a:t>
            </a:r>
            <a:endParaRPr lang="en-US" altLang="zh-TW" dirty="0"/>
          </a:p>
          <a:p>
            <a:r>
              <a:rPr lang="en-US" altLang="zh-TW" dirty="0"/>
              <a:t>3.</a:t>
            </a:r>
            <a:r>
              <a:rPr lang="zh-TW" altLang="en-US" dirty="0"/>
              <a:t> </a:t>
            </a:r>
            <a:r>
              <a:rPr lang="en-US" altLang="zh-TW" dirty="0"/>
              <a:t>API</a:t>
            </a:r>
            <a:r>
              <a:rPr lang="zh-TW" altLang="en-US" dirty="0"/>
              <a:t>被封裝得很簡單</a:t>
            </a:r>
            <a:r>
              <a:rPr lang="en-US" altLang="zh-TW" dirty="0"/>
              <a:t>,</a:t>
            </a:r>
            <a:r>
              <a:rPr lang="zh-TW" altLang="en-US" dirty="0"/>
              <a:t>易上手</a:t>
            </a:r>
            <a:endParaRPr lang="en-US" altLang="zh-TW" dirty="0"/>
          </a:p>
          <a:p>
            <a:r>
              <a:rPr lang="en-US" altLang="zh-TW" dirty="0"/>
              <a:t>4.</a:t>
            </a:r>
            <a:r>
              <a:rPr lang="zh-TW" altLang="en-US" dirty="0"/>
              <a:t> 教學文件詳細清楚</a:t>
            </a:r>
            <a:br>
              <a:rPr lang="en-US" altLang="zh-TW" dirty="0"/>
            </a:br>
            <a:r>
              <a:rPr lang="zh-TW" altLang="en-US" dirty="0"/>
              <a:t>用到：</a:t>
            </a:r>
            <a:br>
              <a:rPr lang="en-US" altLang="zh-TW" dirty="0"/>
            </a:br>
            <a:r>
              <a:rPr lang="en-US" altLang="zh-TW" dirty="0"/>
              <a:t>1.</a:t>
            </a:r>
            <a:r>
              <a:rPr lang="zh-TW" altLang="en-US" dirty="0"/>
              <a:t> </a:t>
            </a:r>
            <a:r>
              <a:rPr lang="en-US" altLang="zh-TW" dirty="0" err="1"/>
              <a:t>WaveInEvent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收音</a:t>
            </a:r>
            <a:r>
              <a:rPr lang="en-US" altLang="zh-TW" dirty="0"/>
              <a:t>)</a:t>
            </a:r>
          </a:p>
          <a:p>
            <a:r>
              <a:rPr lang="en-US" altLang="zh-TW" dirty="0"/>
              <a:t>2.</a:t>
            </a:r>
            <a:r>
              <a:rPr lang="zh-TW" altLang="en-US" dirty="0"/>
              <a:t> </a:t>
            </a:r>
            <a:r>
              <a:rPr lang="en-US" altLang="zh-TW" dirty="0" err="1"/>
              <a:t>WaveOutEvent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放音</a:t>
            </a:r>
            <a:r>
              <a:rPr lang="en-US" altLang="zh-TW" dirty="0"/>
              <a:t>)</a:t>
            </a:r>
          </a:p>
          <a:p>
            <a:r>
              <a:rPr lang="en-US" altLang="zh-TW" dirty="0"/>
              <a:t>3. </a:t>
            </a:r>
            <a:r>
              <a:rPr lang="en-US" altLang="zh-TW" dirty="0" err="1"/>
              <a:t>BufferedWaveProvider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即時緩衝區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6565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p</a:t>
            </a:r>
            <a:r>
              <a:rPr lang="zh-TW" altLang="en-US" dirty="0"/>
              <a:t>公式為</a:t>
            </a:r>
            <a:r>
              <a:rPr lang="en-US" altLang="zh-TW" dirty="0"/>
              <a:t>MIDI</a:t>
            </a:r>
            <a:r>
              <a:rPr lang="zh-TW" altLang="en-US" dirty="0"/>
              <a:t>所提出的標準協定公式</a:t>
            </a:r>
            <a:endParaRPr lang="en-US" altLang="zh-TW" dirty="0"/>
          </a:p>
          <a:p>
            <a:r>
              <a:rPr lang="en-US" altLang="zh-TW" dirty="0"/>
              <a:t>12</a:t>
            </a:r>
            <a:r>
              <a:rPr lang="zh-TW" altLang="en-US" dirty="0"/>
              <a:t>平均律的起源為人耳的分辨率和諧度</a:t>
            </a:r>
            <a:br>
              <a:rPr lang="en-US" altLang="zh-TW" dirty="0"/>
            </a:br>
            <a:r>
              <a:rPr lang="zh-TW" altLang="en-US" dirty="0"/>
              <a:t>同樣聽</a:t>
            </a:r>
            <a:r>
              <a:rPr lang="en-US" altLang="zh-TW" dirty="0"/>
              <a:t>A3(220</a:t>
            </a:r>
            <a:r>
              <a:rPr lang="zh-TW" altLang="en-US" dirty="0"/>
              <a:t> </a:t>
            </a:r>
            <a:r>
              <a:rPr lang="en-US" altLang="zh-TW" dirty="0"/>
              <a:t>Hz), A4(440 Hz), A5(880</a:t>
            </a:r>
            <a:r>
              <a:rPr lang="zh-TW" altLang="en-US" dirty="0"/>
              <a:t> </a:t>
            </a:r>
            <a:r>
              <a:rPr lang="en-US" altLang="zh-TW" dirty="0"/>
              <a:t>Hz)</a:t>
            </a:r>
          </a:p>
          <a:p>
            <a:r>
              <a:rPr lang="zh-TW" altLang="en-US" dirty="0"/>
              <a:t>會發現雖然</a:t>
            </a:r>
            <a:r>
              <a:rPr lang="en-US" altLang="zh-TW" dirty="0"/>
              <a:t>A3-A4, A4-A5</a:t>
            </a:r>
            <a:r>
              <a:rPr lang="zh-TW" altLang="en-US" dirty="0"/>
              <a:t>聽起來音程差似乎是一樣的都是差八度</a:t>
            </a:r>
            <a:endParaRPr lang="en-US" altLang="zh-TW" dirty="0"/>
          </a:p>
          <a:p>
            <a:r>
              <a:rPr lang="zh-TW" altLang="en-US" dirty="0"/>
              <a:t>但實際上</a:t>
            </a:r>
            <a:r>
              <a:rPr lang="en-US" altLang="zh-TW" dirty="0"/>
              <a:t>A4-A5</a:t>
            </a:r>
            <a:r>
              <a:rPr lang="zh-TW" altLang="en-US" dirty="0"/>
              <a:t>的頻率差是</a:t>
            </a:r>
            <a:r>
              <a:rPr lang="en-US" altLang="zh-TW" dirty="0"/>
              <a:t>A3-A4</a:t>
            </a:r>
            <a:r>
              <a:rPr lang="zh-TW" altLang="en-US" dirty="0"/>
              <a:t>的兩倍</a:t>
            </a:r>
            <a:br>
              <a:rPr lang="en-US" altLang="zh-TW" dirty="0"/>
            </a:br>
            <a:r>
              <a:rPr lang="zh-TW" altLang="en-US" dirty="0"/>
              <a:t>也就是說在單位時間如果想要讓音高聽起來是線性升高</a:t>
            </a:r>
            <a:endParaRPr lang="en-US" altLang="zh-TW" dirty="0"/>
          </a:p>
          <a:p>
            <a:r>
              <a:rPr lang="zh-TW" altLang="en-US" dirty="0"/>
              <a:t>則頻率要對數增加</a:t>
            </a:r>
            <a:br>
              <a:rPr lang="en-US" altLang="zh-TW" dirty="0"/>
            </a:br>
            <a:r>
              <a:rPr lang="en-US" altLang="zh-TW" dirty="0"/>
              <a:t>“</a:t>
            </a:r>
            <a:r>
              <a:rPr lang="zh-TW" altLang="en-US" dirty="0"/>
              <a:t>十二平均律</a:t>
            </a:r>
            <a:r>
              <a:rPr lang="en-US" altLang="zh-TW" dirty="0"/>
              <a:t>”</a:t>
            </a:r>
            <a:r>
              <a:rPr lang="zh-TW" altLang="en-US" dirty="0"/>
              <a:t>是人耳感知力，物理學，數學之間和諧的結果，也使移調操作變得方便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音高只跟物體物理特性有關  跟能量無關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78501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#</a:t>
            </a:r>
            <a:r>
              <a:rPr lang="zh-TW" altLang="en-US" dirty="0"/>
              <a:t>：</a:t>
            </a:r>
            <a:r>
              <a:rPr lang="en-US" altLang="zh-TW" dirty="0"/>
              <a:t>Sharpe</a:t>
            </a:r>
          </a:p>
          <a:p>
            <a:r>
              <a:rPr lang="en-US" altLang="zh-TW" dirty="0"/>
              <a:t>b</a:t>
            </a:r>
            <a:r>
              <a:rPr lang="zh-TW" altLang="en-US" dirty="0"/>
              <a:t>：</a:t>
            </a:r>
            <a:r>
              <a:rPr lang="en-US" altLang="zh-TW" dirty="0"/>
              <a:t>Flat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549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實際物體發出的泛音不會剛好是基頻整數倍</a:t>
            </a:r>
            <a:br>
              <a:rPr lang="en-US" altLang="zh-TW" sz="12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</a:br>
            <a:r>
              <a:rPr lang="zh-TW" altLang="en-US" sz="12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會受到材質，物理特性影響</a:t>
            </a:r>
            <a:br>
              <a:rPr lang="en-US" altLang="zh-TW" sz="12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</a:br>
            <a:r>
              <a:rPr lang="en-US" altLang="zh-TW" sz="12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ex: </a:t>
            </a:r>
            <a:r>
              <a:rPr lang="zh-TW" altLang="en-US" sz="12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鋼琴有高音更高，低音更低的特性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20855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GetCapabilities</a:t>
            </a:r>
            <a:r>
              <a:rPr lang="zh-TW" altLang="en-US" dirty="0"/>
              <a:t>：這個方法</a:t>
            </a:r>
            <a:r>
              <a:rPr lang="en-US" altLang="zh-TW" dirty="0"/>
              <a:t>return</a:t>
            </a:r>
            <a:r>
              <a:rPr lang="zh-TW" altLang="en-US" dirty="0"/>
              <a:t>目前電腦有哪些收音設備</a:t>
            </a:r>
            <a:endParaRPr lang="en-US" altLang="zh-TW" dirty="0"/>
          </a:p>
          <a:p>
            <a:r>
              <a:rPr lang="en-US" altLang="zh-TW" dirty="0" err="1"/>
              <a:t>WaveInEvent</a:t>
            </a:r>
            <a:r>
              <a:rPr lang="zh-TW" altLang="en-US" dirty="0"/>
              <a:t>：傳入收音設備</a:t>
            </a:r>
            <a:r>
              <a:rPr lang="en-US" altLang="zh-TW" dirty="0"/>
              <a:t>Index</a:t>
            </a:r>
            <a:r>
              <a:rPr lang="zh-TW" altLang="en-US" dirty="0"/>
              <a:t>值建立收音物件</a:t>
            </a:r>
            <a:endParaRPr lang="en-US" altLang="zh-TW" dirty="0"/>
          </a:p>
          <a:p>
            <a:r>
              <a:rPr lang="en-US" altLang="zh-TW" dirty="0" err="1"/>
              <a:t>WaveFormat</a:t>
            </a:r>
            <a:r>
              <a:rPr lang="zh-TW" altLang="en-US" dirty="0"/>
              <a:t>：設定收音格式</a:t>
            </a:r>
            <a:br>
              <a:rPr lang="en-US" altLang="zh-TW" dirty="0"/>
            </a:br>
            <a:r>
              <a:rPr lang="en-US" altLang="zh-TW" dirty="0" err="1"/>
              <a:t>DataAvailable</a:t>
            </a:r>
            <a:r>
              <a:rPr lang="zh-TW" altLang="en-US" dirty="0"/>
              <a:t>：訂閱自訂分析頻率方法</a:t>
            </a:r>
            <a:endParaRPr lang="en-US" altLang="zh-TW" dirty="0"/>
          </a:p>
          <a:p>
            <a:r>
              <a:rPr lang="en-US" altLang="zh-TW" dirty="0" err="1"/>
              <a:t>bwProvider</a:t>
            </a:r>
            <a:r>
              <a:rPr lang="zh-TW" altLang="en-US" dirty="0"/>
              <a:t>：緩衝區 可限制收音位元區塊大小 超過就會</a:t>
            </a:r>
            <a:endParaRPr lang="en-US" altLang="zh-TW" dirty="0"/>
          </a:p>
          <a:p>
            <a:r>
              <a:rPr lang="en-US" altLang="zh-TW" dirty="0" err="1"/>
              <a:t>StartRecording</a:t>
            </a:r>
            <a:r>
              <a:rPr lang="zh-TW" altLang="en-US" dirty="0"/>
              <a:t>：執行所有訂閱方法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5917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處理邏輯</a:t>
            </a:r>
            <a:r>
              <a:rPr lang="en-US" altLang="zh-TW" dirty="0"/>
              <a:t>(</a:t>
            </a:r>
            <a:r>
              <a:rPr lang="zh-TW" altLang="en-US" dirty="0"/>
              <a:t>左</a:t>
            </a:r>
            <a:r>
              <a:rPr lang="en-US" altLang="zh-TW" dirty="0"/>
              <a:t>)</a:t>
            </a:r>
            <a:r>
              <a:rPr lang="zh-TW" altLang="en-US" dirty="0"/>
              <a:t>：</a:t>
            </a:r>
            <a:endParaRPr lang="en-US" altLang="zh-TW" dirty="0"/>
          </a:p>
          <a:p>
            <a:r>
              <a:rPr lang="zh-TW" altLang="en-US" dirty="0"/>
              <a:t>將</a:t>
            </a:r>
            <a:r>
              <a:rPr lang="en-US" altLang="zh-TW" dirty="0" err="1"/>
              <a:t>WaveInEvent</a:t>
            </a:r>
            <a:r>
              <a:rPr lang="zh-TW" altLang="en-US" dirty="0"/>
              <a:t>測量到的</a:t>
            </a:r>
            <a:r>
              <a:rPr lang="en-US" altLang="zh-TW" dirty="0"/>
              <a:t>Frequency</a:t>
            </a:r>
            <a:r>
              <a:rPr lang="zh-TW" altLang="en-US" dirty="0"/>
              <a:t>傳給這個方法</a:t>
            </a:r>
            <a:br>
              <a:rPr lang="en-US" altLang="zh-TW" dirty="0"/>
            </a:br>
            <a:r>
              <a:rPr lang="zh-TW" altLang="en-US" dirty="0"/>
              <a:t>這個方法會先</a:t>
            </a:r>
            <a:r>
              <a:rPr lang="en-US" altLang="zh-TW" dirty="0"/>
              <a:t>Foreach</a:t>
            </a:r>
            <a:r>
              <a:rPr lang="zh-TW" altLang="en-US" dirty="0"/>
              <a:t>整個基頻定義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/>
              <a:t>然後在把</a:t>
            </a:r>
            <a:r>
              <a:rPr lang="en-US" altLang="zh-TW" dirty="0"/>
              <a:t>Frequency</a:t>
            </a:r>
            <a:r>
              <a:rPr lang="zh-TW" altLang="en-US" dirty="0"/>
              <a:t>跟基頻</a:t>
            </a:r>
            <a:r>
              <a:rPr lang="en-US" altLang="zh-TW" dirty="0"/>
              <a:t>(</a:t>
            </a:r>
            <a:r>
              <a:rPr lang="zh-TW" altLang="en-US" dirty="0"/>
              <a:t>例如 </a:t>
            </a:r>
            <a:r>
              <a:rPr lang="en-US" altLang="zh-TW" dirty="0"/>
              <a:t>C0)</a:t>
            </a:r>
            <a:r>
              <a:rPr lang="zh-TW" altLang="en-US" dirty="0"/>
              <a:t>做音程差計算</a:t>
            </a:r>
            <a:br>
              <a:rPr lang="en-US" altLang="zh-TW" dirty="0"/>
            </a:br>
            <a:r>
              <a:rPr lang="zh-TW" altLang="en-US" dirty="0"/>
              <a:t>找基頻定義的第一個 </a:t>
            </a:r>
            <a:r>
              <a:rPr lang="en-US" altLang="zh-TW" dirty="0"/>
              <a:t>key &amp; value pair  </a:t>
            </a:r>
            <a:r>
              <a:rPr lang="zh-TW" altLang="en-US" dirty="0"/>
              <a:t>如果音程差</a:t>
            </a:r>
            <a:r>
              <a:rPr lang="en-US" altLang="zh-TW" dirty="0"/>
              <a:t>&gt;50</a:t>
            </a:r>
            <a:r>
              <a:rPr lang="zh-TW" altLang="en-US" dirty="0"/>
              <a:t>或</a:t>
            </a:r>
            <a:r>
              <a:rPr lang="en-US" altLang="zh-TW" dirty="0"/>
              <a:t>&lt;-50(cent)</a:t>
            </a:r>
            <a:r>
              <a:rPr lang="zh-TW" altLang="en-US" dirty="0"/>
              <a:t>就將基頻翻倍跟下一個八度的音</a:t>
            </a:r>
            <a:r>
              <a:rPr lang="en-US" altLang="zh-TW" dirty="0"/>
              <a:t>(</a:t>
            </a:r>
            <a:r>
              <a:rPr lang="zh-TW" altLang="en-US" dirty="0"/>
              <a:t>例如 </a:t>
            </a:r>
            <a:r>
              <a:rPr lang="en-US" altLang="zh-TW" dirty="0"/>
              <a:t>C1)</a:t>
            </a:r>
            <a:r>
              <a:rPr lang="zh-TW" altLang="en-US" dirty="0"/>
              <a:t>做計算</a:t>
            </a:r>
            <a:br>
              <a:rPr lang="en-US" altLang="zh-TW" dirty="0"/>
            </a:br>
            <a:r>
              <a:rPr lang="zh-TW" altLang="en-US" dirty="0"/>
              <a:t>直到找到音程差介於</a:t>
            </a:r>
            <a:r>
              <a:rPr lang="en-US" altLang="zh-TW" dirty="0"/>
              <a:t>-50~50(cent)</a:t>
            </a:r>
            <a:r>
              <a:rPr lang="zh-TW" altLang="en-US" dirty="0"/>
              <a:t>之間，即為找到該頻率</a:t>
            </a:r>
            <a:br>
              <a:rPr lang="en-US" altLang="zh-TW" dirty="0"/>
            </a:br>
            <a:r>
              <a:rPr lang="zh-TW" altLang="en-US" dirty="0"/>
              <a:t>注意：先對比所有八度的同一音名，才會對比下一個音名</a:t>
            </a:r>
            <a:br>
              <a:rPr lang="en-US" altLang="zh-TW" dirty="0"/>
            </a:br>
            <a:r>
              <a:rPr lang="en-US" altLang="zh-TW" dirty="0"/>
              <a:t>chat</a:t>
            </a:r>
            <a:r>
              <a:rPr lang="zh-TW" altLang="en-US" dirty="0"/>
              <a:t> </a:t>
            </a:r>
            <a:r>
              <a:rPr lang="en-US" altLang="zh-TW" dirty="0" err="1"/>
              <a:t>gpt</a:t>
            </a:r>
            <a:r>
              <a:rPr lang="zh-TW" altLang="en-US" dirty="0"/>
              <a:t> 給的</a:t>
            </a:r>
            <a:r>
              <a:rPr lang="en-US" altLang="zh-TW" dirty="0"/>
              <a:t>(</a:t>
            </a:r>
            <a:r>
              <a:rPr lang="zh-TW" altLang="en-US" dirty="0"/>
              <a:t>右</a:t>
            </a:r>
            <a:r>
              <a:rPr lang="en-US" altLang="zh-TW" dirty="0"/>
              <a:t>)</a:t>
            </a:r>
            <a:r>
              <a:rPr lang="zh-TW" altLang="en-US" dirty="0"/>
              <a:t>則相反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如果目標音頻較低：</a:t>
            </a:r>
            <a:br>
              <a:rPr lang="en-US" altLang="zh-TW" dirty="0"/>
            </a:br>
            <a:r>
              <a:rPr lang="zh-TW" altLang="en-US" b="1" dirty="0"/>
              <a:t>方法 </a:t>
            </a:r>
            <a:r>
              <a:rPr lang="en-US" altLang="zh-TW" b="1" dirty="0"/>
              <a:t>1</a:t>
            </a:r>
            <a:r>
              <a:rPr lang="zh-TW" altLang="en-US" dirty="0"/>
              <a:t>（先找八度）更快，因為它能快速退出外層八度循環。</a:t>
            </a:r>
          </a:p>
          <a:p>
            <a:pPr>
              <a:buFont typeface="Arial" panose="020B0604020202020204" pitchFamily="34" charset="0"/>
              <a:buNone/>
            </a:pPr>
            <a:r>
              <a:rPr lang="zh-TW" altLang="en-US" b="1" dirty="0"/>
              <a:t>方法 </a:t>
            </a:r>
            <a:r>
              <a:rPr lang="en-US" altLang="zh-TW" b="1" dirty="0"/>
              <a:t>2</a:t>
            </a:r>
            <a:r>
              <a:rPr lang="zh-TW" altLang="en-US" dirty="0"/>
              <a:t>（先找音）會先遍歷完整個音名集合，可能多做一些不必要的計算。</a:t>
            </a:r>
          </a:p>
          <a:p>
            <a:pPr>
              <a:buFont typeface="Arial" panose="020B0604020202020204" pitchFamily="34" charset="0"/>
              <a:buNone/>
            </a:pPr>
            <a:r>
              <a:rPr lang="zh-TW" altLang="en-US" dirty="0"/>
              <a:t>如果目標音頻較高：</a:t>
            </a:r>
            <a:br>
              <a:rPr lang="en-US" altLang="zh-TW" dirty="0"/>
            </a:br>
            <a:r>
              <a:rPr lang="zh-TW" altLang="en-US" b="1" dirty="0"/>
              <a:t>方法 </a:t>
            </a:r>
            <a:r>
              <a:rPr lang="en-US" altLang="zh-TW" b="1" dirty="0"/>
              <a:t>2</a:t>
            </a:r>
            <a:r>
              <a:rPr lang="zh-TW" altLang="en-US" dirty="0"/>
              <a:t> 可能稍快，因為它能快速遍歷較高音頻的八度集合。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55925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吉他調音</a:t>
            </a:r>
            <a:endParaRPr lang="en-US" altLang="zh-TW" dirty="0"/>
          </a:p>
          <a:p>
            <a:r>
              <a:rPr lang="zh-TW" altLang="en-US" dirty="0"/>
              <a:t>一般市面上的調音器</a:t>
            </a:r>
            <a:br>
              <a:rPr lang="en-US" altLang="zh-TW" dirty="0"/>
            </a:br>
            <a:r>
              <a:rPr lang="zh-TW" altLang="en-US" dirty="0"/>
              <a:t>準度大概都在</a:t>
            </a:r>
            <a:r>
              <a:rPr lang="en-US" altLang="zh-TW" dirty="0"/>
              <a:t>+-50</a:t>
            </a:r>
            <a:r>
              <a:rPr lang="zh-TW" altLang="en-US" dirty="0"/>
              <a:t>音分以內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93950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安靜環境下的人聲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60810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一般環境下</a:t>
            </a:r>
            <a:endParaRPr lang="en-US" altLang="zh-TW" dirty="0"/>
          </a:p>
          <a:p>
            <a:r>
              <a:rPr lang="zh-TW" altLang="en-US" dirty="0"/>
              <a:t>容易收到高頻的音</a:t>
            </a:r>
            <a:br>
              <a:rPr lang="en-US" altLang="zh-TW" dirty="0"/>
            </a:br>
            <a:r>
              <a:rPr lang="zh-TW" altLang="en-US" dirty="0"/>
              <a:t>需要透過濾波才能解決</a:t>
            </a:r>
            <a:endParaRPr lang="en-US" altLang="zh-TW" dirty="0"/>
          </a:p>
          <a:p>
            <a:r>
              <a:rPr lang="zh-TW" altLang="en-US" dirty="0"/>
              <a:t>濾波主要有兩種方式：</a:t>
            </a:r>
            <a:endParaRPr lang="en-US" altLang="zh-TW" dirty="0"/>
          </a:p>
          <a:p>
            <a:r>
              <a:rPr lang="en-US" altLang="zh-TW" dirty="0"/>
              <a:t>1.</a:t>
            </a:r>
            <a:r>
              <a:rPr lang="zh-TW" altLang="en-US" dirty="0"/>
              <a:t> 直接設閥值 </a:t>
            </a:r>
            <a:r>
              <a:rPr lang="en-US" altLang="zh-TW" dirty="0"/>
              <a:t>2.</a:t>
            </a:r>
            <a:r>
              <a:rPr lang="zh-TW" altLang="en-US" dirty="0"/>
              <a:t> 傅立葉轉換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60050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WaveOutEvent</a:t>
            </a:r>
            <a:r>
              <a:rPr lang="zh-TW" altLang="en-US" dirty="0"/>
              <a:t>：傳入放音設備</a:t>
            </a:r>
            <a:r>
              <a:rPr lang="en-US" altLang="zh-TW" dirty="0"/>
              <a:t>index</a:t>
            </a:r>
            <a:r>
              <a:rPr lang="zh-TW" altLang="en-US" dirty="0"/>
              <a:t>值建立放音物件</a:t>
            </a:r>
            <a:endParaRPr lang="en-US" altLang="zh-TW" dirty="0"/>
          </a:p>
          <a:p>
            <a:r>
              <a:rPr lang="en-US" altLang="zh-TW" dirty="0" err="1"/>
              <a:t>SignalGenerator</a:t>
            </a:r>
            <a:r>
              <a:rPr lang="zh-TW" altLang="en-US" dirty="0"/>
              <a:t>：訊號產生器</a:t>
            </a:r>
            <a:r>
              <a:rPr lang="en-US" altLang="zh-TW" dirty="0"/>
              <a:t>, </a:t>
            </a:r>
            <a:r>
              <a:rPr lang="zh-TW" altLang="en-US" dirty="0"/>
              <a:t>設定波型</a:t>
            </a:r>
            <a:endParaRPr lang="en-US" altLang="zh-TW" dirty="0"/>
          </a:p>
          <a:p>
            <a:r>
              <a:rPr lang="en-US" altLang="zh-TW" dirty="0" err="1"/>
              <a:t>fn</a:t>
            </a:r>
            <a:r>
              <a:rPr lang="en-US" altLang="zh-TW" dirty="0"/>
              <a:t> = f0 * 2^n</a:t>
            </a:r>
            <a:br>
              <a:rPr lang="en-US" altLang="zh-TW" dirty="0"/>
            </a:br>
            <a:r>
              <a:rPr lang="zh-TW" altLang="en-US" dirty="0"/>
              <a:t>做成鋼琴只是示意音高</a:t>
            </a:r>
            <a:br>
              <a:rPr lang="en-US" altLang="zh-TW" dirty="0"/>
            </a:br>
            <a:r>
              <a:rPr lang="zh-TW" altLang="en-US" dirty="0"/>
              <a:t>實際上如果要發出類似鋼琴的聲音</a:t>
            </a:r>
            <a:br>
              <a:rPr lang="en-US" altLang="zh-TW" dirty="0"/>
            </a:br>
            <a:r>
              <a:rPr lang="zh-TW" altLang="en-US" dirty="0"/>
              <a:t>就要先準備每個音的</a:t>
            </a:r>
            <a:r>
              <a:rPr lang="en-US" altLang="zh-TW" dirty="0"/>
              <a:t>.wav</a:t>
            </a:r>
            <a:r>
              <a:rPr lang="zh-TW" altLang="en-US" dirty="0"/>
              <a:t>檔</a:t>
            </a:r>
            <a:endParaRPr lang="en-US" altLang="zh-TW" dirty="0"/>
          </a:p>
          <a:p>
            <a:r>
              <a:rPr lang="zh-TW" altLang="en-US" dirty="0"/>
              <a:t>在用</a:t>
            </a:r>
            <a:r>
              <a:rPr lang="en-US" altLang="zh-TW" dirty="0" err="1"/>
              <a:t>WaveOutEvent</a:t>
            </a:r>
            <a:r>
              <a:rPr lang="zh-TW" altLang="en-US" dirty="0"/>
              <a:t>事件播放相對應音高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257340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音分範圍：</a:t>
            </a:r>
            <a:r>
              <a:rPr lang="en-US" altLang="zh-TW" dirty="0"/>
              <a:t>50</a:t>
            </a:r>
            <a:r>
              <a:rPr lang="zh-TW" altLang="en-US" dirty="0"/>
              <a:t> </a:t>
            </a:r>
            <a:r>
              <a:rPr lang="en-US" altLang="zh-TW" dirty="0"/>
              <a:t>cents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8316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76EA00-0D6A-4D68-8EFD-CD41D380B2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8C081F0-0180-44EB-8575-D79CE195F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F9875D0-B982-471E-AC77-4B4BA747B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D28CCD-3E2A-47BC-8526-66765A9B8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E53DA75-971B-4650-A67A-876D018D1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5873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7EB4CA-B987-4A44-B4DD-F84311BA2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32B252-D152-4988-BA6F-16CF294E7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2F64C45-9D0F-4FE2-A1A0-BD45502D8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A3E5784-39AE-4A35-9D16-A92998BB9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4395544-FE41-42FC-BF2B-B0B4B80DF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312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F253A0-4B60-4872-8633-0EE298D7A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2C91083-3940-451A-A60F-A3F9DCB041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60EA7F5-23ED-4A41-B509-DC12B1C11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83141A1-724C-4E03-B9E3-C3302D17F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99D9731-8A75-4D81-8C7D-145545A39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5320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99F9C-5686-463E-BF44-07796F439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BD0EA1C-6D49-4E42-89F8-D68FF53D8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2078007-A5B0-4581-9A2A-A8342AF40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D390AA6-E7FD-4F4C-AFC6-3A74B2537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B1664D8-5F99-4E47-8615-EF7EF4EA0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3D24143-8555-4401-AF36-4FBEB21A8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066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1C0191-40FF-48E4-94B4-02AB15755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2DA352B-A7B2-49A5-916D-96340F33A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04B8BDE-2B4F-4EB0-AD05-FB8570F30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E2D0368-7E6C-47B7-B2C0-BE8E4D75D2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113D543-31A7-4A2A-83C2-758D50196F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83BB532-C489-4AB7-981D-45ACE710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2025/1/2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7FAE673-35DE-408C-A8F4-A8D11B26D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DC0B114-3B2F-41E4-AB67-518CCF3EB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866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A0D110-4551-419C-8D3A-786A026C2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645198B-3B07-4091-9688-037CBB875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73518BA-6A70-4496-A6F4-FDB818B2C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7C6FA6C-CBE8-4E69-98F9-9CC5412D5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1023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AD11071-D575-45B8-BE13-4BB8820A4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2025/1/2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E2C0DD5-FE28-4155-A3F0-390D4634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13A572-791E-4DD6-B522-54FED4DAE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8261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7B7F91-EE69-4779-B1FE-E188CB0C6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190EE0-8539-4BB2-8297-831049D9B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4AA7E2E-DDD3-444A-8407-4F363861B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D2C95AA-644F-4CEF-B6EB-0E25F8DDC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E867814-2ADF-46C9-B298-4D6B2FB30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F37947C-41A4-44AF-8E5D-6F7696B1E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1485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96EE34-0084-45C1-A12E-59E9DCCE5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8117B13-F442-4DFE-B120-5F21BA6AA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0D047FC-7CB2-484D-9F01-16181BD146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3B61DF5-D529-402B-AD55-DAA44FD86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56B8F04-C2E3-4EE1-9975-1A440C0AC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7FD2526-0399-4E25-9E4B-D646B448C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7105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9ED063-BF47-4B74-8075-6FD55ABE9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6E93511-69A6-4069-80DE-352CB9E0A4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706AE99-860A-41DD-99DE-8C5D8C479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44C652B-EAAE-4171-975C-D7D1DB5FB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37CF27D-5BE5-4868-98CB-74C599E9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420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0676BC9-F8AD-46F4-A41B-8581573D46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84DFE9D-6140-4A69-8A2B-4764B563C4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CF411FB-AAAA-48E0-810F-76954D8A7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E6BF75A-31DA-4DE9-9DCB-FAD75A2B6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5B10F9D-B19E-49E6-9693-307FCBBEC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701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94AEAB3-0BC0-475F-BC47-36E582E8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2BE48E-851D-48DD-A850-DD027CFA16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C79C306-ABB3-45C6-8866-A700B32F4D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822A52-CB54-4445-AC34-F501DA2D4712}" type="datetimeFigureOut">
              <a:rPr lang="zh-TW" altLang="en-US" smtClean="0"/>
              <a:t>2025/1/2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D23E25-E915-4666-80F8-75A504B2D0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E87582-D016-4054-935A-3035048F8F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178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https://github.com/naudio/NAudio?tab=readme-ov-fil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mailto:https://stackoverflow.com/questions/tagged/naudio?tab=newest&amp;page=1&amp;pagesize=15" TargetMode="External"/><Relationship Id="rId3" Type="http://schemas.openxmlformats.org/officeDocument/2006/relationships/hyperlink" Target="mailto:https://zh.wikipedia.org/zh-" TargetMode="External"/><Relationship Id="rId7" Type="http://schemas.openxmlformats.org/officeDocument/2006/relationships/hyperlink" Target="mailto:https://timag-shield.blogspot.com/2017/04/thinkdsp_82.html" TargetMode="External"/><Relationship Id="rId2" Type="http://schemas.openxmlformats.org/officeDocument/2006/relationships/hyperlink" Target="mailto:https://zh.wikipedia.org/zh-tw/%E9%9F%B3%E9%AB%9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https://nicechord.com/post/major-and-minor-modes/" TargetMode="External"/><Relationship Id="rId5" Type="http://schemas.openxmlformats.org/officeDocument/2006/relationships/hyperlink" Target="mailto:https://github.com/naudio/NAudio?tab=readme-ov-file" TargetMode="External"/><Relationship Id="rId4" Type="http://schemas.openxmlformats.org/officeDocument/2006/relationships/hyperlink" Target="mailto:https://zh.wikipedia.org/zh-tw/%E4%BA%BA%E5%A3%B0%E9%9F%B3%E5%9F%9F" TargetMode="External"/><Relationship Id="rId9" Type="http://schemas.openxmlformats.org/officeDocument/2006/relationships/hyperlink" Target="mailto:https://www.bilibili.com/video/BV1tj411T71P/?spm_id_from=333.337.search-card.all.click&amp;vd_source=88ea28052682913da01ac2ec14baf19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168A6BEB-3BEB-4E05-9369-87FB26EC39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767203"/>
            <a:ext cx="9144000" cy="1874840"/>
          </a:xfrm>
        </p:spPr>
        <p:txBody>
          <a:bodyPr>
            <a:normAutofit fontScale="92500" lnSpcReduction="20000"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NAudio is an open source .NET audio library written </a:t>
            </a:r>
          </a:p>
          <a:p>
            <a:r>
              <a:rPr lang="en-US" altLang="zh-TW" dirty="0">
                <a:latin typeface="Consolas" panose="020B0609020204030204" pitchFamily="49" charset="0"/>
              </a:rPr>
              <a:t>by Mark Heath</a:t>
            </a:r>
          </a:p>
          <a:p>
            <a:r>
              <a:rPr lang="en-US" altLang="zh-TW" dirty="0">
                <a:latin typeface="Consolas" panose="020B0609020204030204" pitchFamily="49" charset="0"/>
                <a:hlinkClick r:id="rId3"/>
              </a:rPr>
              <a:t>mailto:https://github.com/naudio/NAudio?tab=readme-ov-file</a:t>
            </a:r>
            <a:endParaRPr lang="en-US" altLang="zh-TW" dirty="0">
              <a:latin typeface="Consolas" panose="020B0609020204030204" pitchFamily="49" charset="0"/>
            </a:endParaRPr>
          </a:p>
          <a:p>
            <a:endParaRPr lang="en-US" altLang="zh-TW" dirty="0">
              <a:latin typeface="Consolas" panose="020B0609020204030204" pitchFamily="49" charset="0"/>
            </a:endParaRPr>
          </a:p>
          <a:p>
            <a:r>
              <a:rPr lang="en-US" altLang="zh-TW" dirty="0">
                <a:latin typeface="Consolas" panose="020B0609020204030204" pitchFamily="49" charset="0"/>
              </a:rPr>
              <a:t>Howard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20A3553-C5CF-4B73-810D-FB2D04ABF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8010" y="1974849"/>
            <a:ext cx="5895975" cy="136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9072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4DC5B8-0A57-4772-8EF5-FF29245F6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功能及應用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4122336-73E2-45B8-A678-70001E2821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67618"/>
            <a:ext cx="12190829" cy="3920799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26D89FB-0EDA-4185-A4D2-6B15B98A44D6}"/>
              </a:ext>
            </a:extLst>
          </p:cNvPr>
          <p:cNvSpPr/>
          <p:nvPr/>
        </p:nvSpPr>
        <p:spPr>
          <a:xfrm>
            <a:off x="2682947" y="2349975"/>
            <a:ext cx="1867786" cy="414669"/>
          </a:xfrm>
          <a:prstGeom prst="rect">
            <a:avLst/>
          </a:prstGeom>
          <a:noFill/>
          <a:ln w="38100" cap="flat" cmpd="sng" algn="ctr">
            <a:solidFill>
              <a:srgbClr val="FF0000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21DC240-7DD6-46BC-A085-538E1AE428C9}"/>
              </a:ext>
            </a:extLst>
          </p:cNvPr>
          <p:cNvSpPr/>
          <p:nvPr/>
        </p:nvSpPr>
        <p:spPr>
          <a:xfrm>
            <a:off x="2682947" y="2816378"/>
            <a:ext cx="1867786" cy="414669"/>
          </a:xfrm>
          <a:prstGeom prst="rect">
            <a:avLst/>
          </a:prstGeom>
          <a:noFill/>
          <a:ln w="38100" cap="flat" cmpd="sng" algn="ctr">
            <a:solidFill>
              <a:srgbClr val="FF0000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A926834-F6C2-4DD8-9072-1742595E31E5}"/>
              </a:ext>
            </a:extLst>
          </p:cNvPr>
          <p:cNvSpPr/>
          <p:nvPr/>
        </p:nvSpPr>
        <p:spPr>
          <a:xfrm>
            <a:off x="2682947" y="3771878"/>
            <a:ext cx="2771555" cy="414669"/>
          </a:xfrm>
          <a:prstGeom prst="rect">
            <a:avLst/>
          </a:prstGeom>
          <a:noFill/>
          <a:ln w="38100" cap="flat" cmpd="sng" algn="ctr">
            <a:solidFill>
              <a:srgbClr val="FF0000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4E21C6-E2E4-43ED-80B0-8F63DBCA32F0}"/>
              </a:ext>
            </a:extLst>
          </p:cNvPr>
          <p:cNvSpPr/>
          <p:nvPr/>
        </p:nvSpPr>
        <p:spPr>
          <a:xfrm>
            <a:off x="2682947" y="4704685"/>
            <a:ext cx="1640959" cy="414669"/>
          </a:xfrm>
          <a:prstGeom prst="rect">
            <a:avLst/>
          </a:prstGeom>
          <a:noFill/>
          <a:ln w="38100" cap="flat" cmpd="sng" algn="ctr">
            <a:solidFill>
              <a:srgbClr val="FF0000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9947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640546-EB3B-413A-89E4-F3A1D2712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基本知識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D388685-382F-4E73-91BB-5EA4D4F981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國際標準音高將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sz="28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定為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440(Hz)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，即為每秒震動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440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次。</a:t>
                </a:r>
                <a:endParaRPr lang="en-US" altLang="zh-TW" dirty="0">
                  <a:latin typeface="Consolas" panose="020B0609020204030204" pitchFamily="49" charset="0"/>
                  <a:ea typeface="標楷體" panose="03000509000000000000" pitchFamily="65" charset="-120"/>
                </a:endParaRPr>
              </a:p>
              <a:p>
                <a:pPr marL="0" indent="0">
                  <a:buNone/>
                </a:pP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由以下方程式可以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i="1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=69)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推算出整個線性音高空間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。</a:t>
                </a:r>
                <a:endParaRPr lang="en-US" altLang="zh-TW" dirty="0">
                  <a:latin typeface="Consolas" panose="020B0609020204030204" pitchFamily="49" charset="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每個八度大小定義為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12</a:t>
                </a: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半音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十二平均律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)</a:t>
                </a: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。</a:t>
                </a:r>
                <a:endParaRPr lang="en-US" altLang="zh-TW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兩個半音相當於一個音程。</a:t>
                </a:r>
                <a:endParaRPr lang="en-US" altLang="zh-TW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定義一個八度音程為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1200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音分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(cent)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即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半音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=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100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音分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)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。</a:t>
                </a:r>
                <a:endParaRPr lang="en-US" altLang="zh-TW" dirty="0">
                  <a:latin typeface="Arial" panose="020B0604020202020204" pitchFamily="34" charset="0"/>
                  <a:ea typeface="標楷體" panose="03000509000000000000" pitchFamily="65" charset="-120"/>
                  <a:cs typeface="Arial" panose="020B0604020202020204" pitchFamily="34" charset="0"/>
                </a:endParaRPr>
              </a:p>
              <a:p>
                <a:r>
                  <a:rPr lang="zh-TW" altLang="en-US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人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類</a:t>
                </a:r>
                <a:r>
                  <a:rPr lang="zh-TW" altLang="en-US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感知音高</a:t>
                </a:r>
                <a:r>
                  <a:rPr lang="en-US" altLang="zh-TW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</a:t>
                </a:r>
                <a:r>
                  <a:rPr lang="zh-TW" altLang="en-US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音程差</a:t>
                </a:r>
                <a:r>
                  <a:rPr lang="en-US" altLang="zh-TW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)</a:t>
                </a:r>
                <a:r>
                  <a:rPr lang="zh-TW" altLang="en-US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是依據頻率的對數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比例</a:t>
                </a:r>
                <a:r>
                  <a:rPr lang="zh-TW" altLang="en-US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，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而不是頻率差。</a:t>
                </a:r>
                <a:endParaRPr lang="en-US" altLang="zh-TW" dirty="0">
                  <a:latin typeface="Arial" panose="020B0604020202020204" pitchFamily="34" charset="0"/>
                  <a:ea typeface="標楷體" panose="03000509000000000000" pitchFamily="65" charset="-120"/>
                  <a:cs typeface="Arial" panose="020B0604020202020204" pitchFamily="34" charset="0"/>
                </a:endParaRPr>
              </a:p>
              <a:p>
                <a:endParaRPr lang="en-US" altLang="zh-TW" sz="2800" dirty="0">
                  <a:latin typeface="Arial" panose="020B0604020202020204" pitchFamily="34" charset="0"/>
                  <a:ea typeface="標楷體" panose="03000509000000000000" pitchFamily="65" charset="-120"/>
                  <a:cs typeface="Arial" panose="020B0604020202020204" pitchFamily="34" charset="0"/>
                </a:endParaRPr>
              </a:p>
              <a:p>
                <a:endParaRPr lang="zh-TW" altLang="en-US" dirty="0">
                  <a:latin typeface="Arial" panose="020B0604020202020204" pitchFamily="34" charset="0"/>
                  <a:ea typeface="標楷體" panose="03000509000000000000" pitchFamily="65" charset="-12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D388685-382F-4E73-91BB-5EA4D4F981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B6088C4-5344-435C-8646-EACA9D63C59E}"/>
                  </a:ext>
                </a:extLst>
              </p:cNvPr>
              <p:cNvSpPr txBox="1"/>
              <p:nvPr/>
            </p:nvSpPr>
            <p:spPr>
              <a:xfrm>
                <a:off x="1419426" y="5205268"/>
                <a:ext cx="4676574" cy="5618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=440×</m:t>
                      </m:r>
                      <m:sSup>
                        <m:sSup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>
                            <m:f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zh-TW" altLang="en-US" sz="2400" i="0">
                                      <a:latin typeface="Cambria Math" panose="02040503050406030204" pitchFamily="18" charset="0"/>
                                    </a:rPr>
                                    <m:t>−69</m:t>
                                  </m:r>
                                </m:e>
                              </m:d>
                            </m:num>
                            <m:den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B6088C4-5344-435C-8646-EACA9D63C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9426" y="5205268"/>
                <a:ext cx="4676574" cy="5618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B3FEC1E-03AF-4602-B5CA-B3ED711EEEFF}"/>
                  </a:ext>
                </a:extLst>
              </p:cNvPr>
              <p:cNvSpPr txBox="1"/>
              <p:nvPr/>
            </p:nvSpPr>
            <p:spPr>
              <a:xfrm>
                <a:off x="6890317" y="5071290"/>
                <a:ext cx="3030657" cy="8298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𝑑𝑓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=1200×</m:t>
                      </m:r>
                      <m:func>
                        <m:func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B3FEC1E-03AF-4602-B5CA-B3ED711EE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0317" y="5071290"/>
                <a:ext cx="3030657" cy="8298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041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A9DAA703-06E0-45BE-909D-672217DDC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9830" y="2094166"/>
            <a:ext cx="5615946" cy="1513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1643FED-07D7-4A12-986C-B07FA308904E}"/>
                  </a:ext>
                </a:extLst>
              </p:cNvPr>
              <p:cNvSpPr txBox="1"/>
              <p:nvPr/>
            </p:nvSpPr>
            <p:spPr>
              <a:xfrm>
                <a:off x="7052210" y="1273102"/>
                <a:ext cx="45122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𝐶𝑏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 代表</a:t>
                </a:r>
                <a:r>
                  <a:rPr lang="en-US" altLang="zh-TW" sz="24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C4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這個音高降半音。 </a:t>
                </a: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1643FED-07D7-4A12-986C-B07FA3089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2210" y="1273102"/>
                <a:ext cx="4512262" cy="369332"/>
              </a:xfrm>
              <a:prstGeom prst="rect">
                <a:avLst/>
              </a:prstGeom>
              <a:blipFill>
                <a:blip r:embed="rId4"/>
                <a:stretch>
                  <a:fillRect l="-2432" t="-28333" r="-676" b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69E197-6A37-4FFA-A110-3DBE3271A53C}"/>
                  </a:ext>
                </a:extLst>
              </p:cNvPr>
              <p:cNvSpPr txBox="1"/>
              <p:nvPr/>
            </p:nvSpPr>
            <p:spPr>
              <a:xfrm>
                <a:off x="7052208" y="857556"/>
                <a:ext cx="451226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#</m:t>
                    </m:r>
                    <m:r>
                      <a:rPr lang="en-US" altLang="zh-TW" sz="24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 代表</a:t>
                </a:r>
                <a:r>
                  <a:rPr lang="en-US" altLang="zh-TW" sz="24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C4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這個音高升半音。 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69E197-6A37-4FFA-A110-3DBE3271A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2208" y="857556"/>
                <a:ext cx="4512263" cy="369332"/>
              </a:xfrm>
              <a:prstGeom prst="rect">
                <a:avLst/>
              </a:prstGeom>
              <a:blipFill>
                <a:blip r:embed="rId5"/>
                <a:stretch>
                  <a:fillRect l="-2432" t="-28333" r="-1486" b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圖片 10">
            <a:extLst>
              <a:ext uri="{FF2B5EF4-FFF2-40B4-BE49-F238E27FC236}">
                <a16:creationId xmlns:a16="http://schemas.microsoft.com/office/drawing/2014/main" id="{E187AC0F-1A69-41D0-8304-16DE2582C2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501" y="4484071"/>
            <a:ext cx="8518998" cy="237392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B4B8FE9-ECDB-427D-9AEE-E216B3F333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6721" y="110573"/>
            <a:ext cx="6266161" cy="428045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A6D1106-09D6-4430-9986-D99F45EE46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6559" y="421778"/>
            <a:ext cx="9178882" cy="5163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00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27AA2B-FF89-42CE-B9E5-F2C8F9CDE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泛音列</a:t>
            </a:r>
            <a:r>
              <a:rPr lang="en-US" altLang="zh-TW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(Harmonic series)</a:t>
            </a:r>
            <a:endParaRPr lang="zh-TW" altLang="en-US" b="1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A5B91E-9772-4F8E-BFEF-EB9492AC5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發聲體除了會整體震動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基音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外還會部份震動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音叉除外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，這些微小的分段震動就會形成泛音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列。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音色的成因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泛音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+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偏差音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基頻的整數倍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(2,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3,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4, 5,…)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人的大腦會自動解析基頻為音高，泛音列為音色。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測量音頻有可能會受到泛音及偏差音的影響。</a:t>
            </a:r>
          </a:p>
        </p:txBody>
      </p:sp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ED7A301-E4E7-45C9-86E1-27B016537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5220" y="1728787"/>
            <a:ext cx="3268579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6742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AD999-551A-4870-9B41-82B9E184F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4BCA8551-CAFF-4993-9762-DB3EAFEE5A0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490"/>
          <a:stretch/>
        </p:blipFill>
        <p:spPr>
          <a:xfrm>
            <a:off x="2340522" y="1918738"/>
            <a:ext cx="7510956" cy="460554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1B2119D0-3CF2-4D72-97B1-7EEF958C21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172" y="293409"/>
            <a:ext cx="11077656" cy="1562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44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圖片 36">
            <a:extLst>
              <a:ext uri="{FF2B5EF4-FFF2-40B4-BE49-F238E27FC236}">
                <a16:creationId xmlns:a16="http://schemas.microsoft.com/office/drawing/2014/main" id="{867B3574-BEB7-4978-B815-F42C44BFA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237" y="1683277"/>
            <a:ext cx="5417210" cy="4937878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0E1B36FE-BE96-4216-BD9B-A22B40BD6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553" y="1683277"/>
            <a:ext cx="4956289" cy="49378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9DE05A29-9AF8-44FD-8F20-DE0DB0A51AC0}"/>
                  </a:ext>
                </a:extLst>
              </p:cNvPr>
              <p:cNvSpPr txBox="1"/>
              <p:nvPr/>
            </p:nvSpPr>
            <p:spPr>
              <a:xfrm>
                <a:off x="7680501" y="334330"/>
                <a:ext cx="4471569" cy="11065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200" b="0" i="1" smtClean="0">
                          <a:latin typeface="Cambria Math" panose="02040503050406030204" pitchFamily="18" charset="0"/>
                        </a:rPr>
                        <m:t>𝑑𝑓</m:t>
                      </m:r>
                      <m:r>
                        <a:rPr lang="zh-TW" altLang="en-US" sz="3200" i="0">
                          <a:latin typeface="Cambria Math" panose="02040503050406030204" pitchFamily="18" charset="0"/>
                        </a:rPr>
                        <m:t>=1200×</m:t>
                      </m:r>
                      <m:func>
                        <m:funcPr>
                          <m:ctrlPr>
                            <a:rPr lang="zh-TW" altLang="en-US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3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3200" i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32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3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3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zh-TW" altLang="en-US" sz="3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32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32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zh-TW" altLang="en-US" sz="3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32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32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9DE05A29-9AF8-44FD-8F20-DE0DB0A51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501" y="334330"/>
                <a:ext cx="4471569" cy="1106521"/>
              </a:xfrm>
              <a:prstGeom prst="rect">
                <a:avLst/>
              </a:prstGeom>
              <a:blipFill>
                <a:blip r:embed="rId5"/>
                <a:stretch>
                  <a:fillRect b="-55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>
            <a:extLst>
              <a:ext uri="{FF2B5EF4-FFF2-40B4-BE49-F238E27FC236}">
                <a16:creationId xmlns:a16="http://schemas.microsoft.com/office/drawing/2014/main" id="{268E1E4E-6EFC-46E9-A3FE-D548CD7520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7118" y="139873"/>
            <a:ext cx="7396425" cy="1495436"/>
          </a:xfrm>
          <a:prstGeom prst="rect">
            <a:avLst/>
          </a:prstGeom>
        </p:spPr>
      </p:pic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AEE55984-D891-4CBD-A98A-66FB26006073}"/>
              </a:ext>
            </a:extLst>
          </p:cNvPr>
          <p:cNvCxnSpPr>
            <a:cxnSpLocks/>
          </p:cNvCxnSpPr>
          <p:nvPr/>
        </p:nvCxnSpPr>
        <p:spPr>
          <a:xfrm flipH="1">
            <a:off x="7442791" y="1318437"/>
            <a:ext cx="1839435" cy="1493996"/>
          </a:xfrm>
          <a:prstGeom prst="straightConnector1">
            <a:avLst/>
          </a:prstGeom>
          <a:ln w="50800">
            <a:solidFill>
              <a:srgbClr val="FF0000">
                <a:alpha val="70000"/>
              </a:srgbClr>
            </a:solidFill>
            <a:prstDash val="sysDash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C6C76807-39A4-4CDA-8AFE-380364A24236}"/>
              </a:ext>
            </a:extLst>
          </p:cNvPr>
          <p:cNvCxnSpPr>
            <a:cxnSpLocks/>
          </p:cNvCxnSpPr>
          <p:nvPr/>
        </p:nvCxnSpPr>
        <p:spPr>
          <a:xfrm flipH="1">
            <a:off x="1616149" y="1318436"/>
            <a:ext cx="7666078" cy="1493997"/>
          </a:xfrm>
          <a:prstGeom prst="straightConnector1">
            <a:avLst/>
          </a:prstGeom>
          <a:ln w="50800">
            <a:solidFill>
              <a:srgbClr val="FF0000">
                <a:alpha val="70000"/>
              </a:srgbClr>
            </a:solidFill>
            <a:prstDash val="sysDash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6640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5096A6-4923-4348-B26B-78CFE6889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A4CA5B60-8C29-49C5-93C2-0455E10C2A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0688"/>
            <a:ext cx="12192000" cy="6516624"/>
          </a:xfrm>
        </p:spPr>
      </p:pic>
    </p:spTree>
    <p:extLst>
      <p:ext uri="{BB962C8B-B14F-4D97-AF65-F5344CB8AC3E}">
        <p14:creationId xmlns:p14="http://schemas.microsoft.com/office/powerpoint/2010/main" val="849360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B971A0-5E52-49A4-B85B-368FCBB13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8DB95D-0DD2-4A07-B991-9E70095B1A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163C3E4-9B7C-4DF6-872C-BBAB83D66D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8275"/>
            <a:ext cx="12192000" cy="652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006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D70468-AC48-4450-8B5D-392E2876A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0CE6E3-5D69-42C3-B948-0E8222A94D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62FA868E-9D3E-4537-9E17-096C2C00B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8275"/>
            <a:ext cx="12192000" cy="6521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000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F1B410B8-6FEF-47EF-BD52-A35DFD3F8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76" y="2353797"/>
            <a:ext cx="5379874" cy="2455722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9E01122A-E924-4D43-B69E-8637B1D797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8076" y="570333"/>
            <a:ext cx="5379874" cy="1542396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758FBB89-4181-4E04-96F1-61ED03C39B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018" y="863066"/>
            <a:ext cx="5726982" cy="3630958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AFC2DC58-B2FE-46BE-838F-28A43E64545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274" t="26794" r="1241" b="8214"/>
          <a:stretch/>
        </p:blipFill>
        <p:spPr>
          <a:xfrm>
            <a:off x="1551393" y="5050587"/>
            <a:ext cx="9089214" cy="112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1407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DBD4E5-2E32-4135-A3A9-BFC3B91E1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總結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83AC9F-D36C-4C51-9F27-9095C1E13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50166" cy="4351338"/>
          </a:xfrm>
        </p:spPr>
        <p:txBody>
          <a:bodyPr>
            <a:normAutofit/>
          </a:bodyPr>
          <a:lstStyle/>
          <a:p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一般調音器的邏輯是一定的音分範圍內都算判斷準確，因為每個設備外放或是樂器的音會有些許泛音或偏差音上的不同，非專業的收音設備可能會因為這些泛音而對不上標準音高頻率：</a:t>
            </a:r>
            <a:br>
              <a:rPr lang="en-US" altLang="zh-TW" sz="2400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例如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A4 (440Hz)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可能就會測到偏高或是偏低，即便是由標準鋼琴發出的音。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用兩台手機交叉比對，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手機用鋼琴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APP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發出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A4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鍵，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B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手機測量到仍會高於 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440Hz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一點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一般的電腦麥克風，容易收到環境或是電腦發出的高頻</a:t>
            </a:r>
            <a:r>
              <a:rPr lang="en-US" altLang="zh-TW" sz="24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大約在第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6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、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7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組八度</a:t>
            </a:r>
            <a:r>
              <a:rPr lang="en-US" altLang="zh-TW" sz="24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，這一點需要用程式或是硬體本身進行濾波處理。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實際上要分析歌曲調性技術複雜，需涉及到傅立葉轉換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(Fourier transform, FT)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01786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5148FA-0014-4A04-9A87-17E66529A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參考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47C2E4-E0FC-4B89-9770-5884C0166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466"/>
            <a:ext cx="10515600" cy="5139205"/>
          </a:xfrm>
        </p:spPr>
        <p:txBody>
          <a:bodyPr>
            <a:normAutofit/>
          </a:bodyPr>
          <a:lstStyle/>
          <a:p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Wiki-</a:t>
            </a:r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音高：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2"/>
              </a:rPr>
              <a:t>mailto:https://zh.wikipedia.org/zh-tw/%E9%9F%B3%E9%AB%98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3"/>
              </a:rPr>
              <a:t>mailto:https://zh.wikipedia.org/zh-</a:t>
            </a:r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</a:t>
            </a:r>
            <a:r>
              <a:rPr lang="en-US" altLang="zh-TW" sz="1600" dirty="0" err="1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4"/>
              </a:rPr>
              <a:t>tw</a:t>
            </a: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4"/>
              </a:rPr>
              <a:t>/%E4%BA%BA%E5%A3%B0%E9%9F%B3%E5%9F%9F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Naudio</a:t>
            </a:r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套件：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5"/>
              </a:rPr>
              <a:t>mailto:https://github.com/naudio/NAudio?tab=readme-ov-file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好和弦：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6"/>
              </a:rPr>
              <a:t>mailto:https://nicechord.com/post/major-and-minor-modes/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Think DSP: Digital Signal Processing in Python by Allen B. Downey) </a:t>
            </a:r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中譯電子書：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7"/>
              </a:rPr>
              <a:t>mailto:https://timag-shield.blogspot.com/2017/04/thinkdsp_82.html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1600" dirty="0" err="1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Naudio</a:t>
            </a: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stack overflow</a:t>
            </a:r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：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mailto:https://stackoverflow.com/questions/tagged/naudio?tab=newest&amp;page=1&amp;pagesize=15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音高測量相關影片：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9"/>
              </a:rPr>
              <a:t>mailto:https://www.bilibili.com/video/BV1tj411T71P/?spm_id_from=333.337.search-</a:t>
            </a:r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9"/>
              </a:rPr>
              <a:t> </a:t>
            </a:r>
            <a:r>
              <a:rPr lang="en-US" altLang="zh-TW" sz="1600" dirty="0" err="1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9"/>
              </a:rPr>
              <a:t>card.all.click&amp;vd_source</a:t>
            </a: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9"/>
              </a:rPr>
              <a:t>=88ea28052682913da01ac2ec14baf19d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227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10857</TotalTime>
  <Words>1290</Words>
  <Application>Microsoft Office PowerPoint</Application>
  <PresentationFormat>寬螢幕</PresentationFormat>
  <Paragraphs>97</Paragraphs>
  <Slides>13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0" baseType="lpstr">
      <vt:lpstr>標楷體</vt:lpstr>
      <vt:lpstr>Arial</vt:lpstr>
      <vt:lpstr>Calibri</vt:lpstr>
      <vt:lpstr>Calibri Light</vt:lpstr>
      <vt:lpstr>Cambria Math</vt:lpstr>
      <vt:lpstr>Consolas</vt:lpstr>
      <vt:lpstr>Office 佈景主題</vt:lpstr>
      <vt:lpstr>PowerPoint 簡報</vt:lpstr>
      <vt:lpstr>功能及應用</vt:lpstr>
      <vt:lpstr>基本知識</vt:lpstr>
      <vt:lpstr>PowerPoint 簡報</vt:lpstr>
      <vt:lpstr>泛音列(Harmonic series)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總結</vt:lpstr>
      <vt:lpstr>參考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Howard Gu(古皓宇)</dc:creator>
  <cp:lastModifiedBy>Howard Gu(古皓宇)</cp:lastModifiedBy>
  <cp:revision>143</cp:revision>
  <dcterms:created xsi:type="dcterms:W3CDTF">2024-12-16T07:45:55Z</dcterms:created>
  <dcterms:modified xsi:type="dcterms:W3CDTF">2025-01-03T09:03:04Z</dcterms:modified>
</cp:coreProperties>
</file>