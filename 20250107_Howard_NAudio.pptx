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7" r:id="rId3"/>
    <p:sldId id="259" r:id="rId4"/>
    <p:sldId id="271" r:id="rId5"/>
    <p:sldId id="260" r:id="rId6"/>
    <p:sldId id="273" r:id="rId7"/>
    <p:sldId id="258" r:id="rId8"/>
    <p:sldId id="279" r:id="rId9"/>
    <p:sldId id="278" r:id="rId10"/>
    <p:sldId id="270" r:id="rId11"/>
    <p:sldId id="277" r:id="rId12"/>
    <p:sldId id="280" r:id="rId13"/>
    <p:sldId id="264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285" autoAdjust="0"/>
  </p:normalViewPr>
  <p:slideViewPr>
    <p:cSldViewPr snapToGrid="0">
      <p:cViewPr varScale="1">
        <p:scale>
          <a:sx n="90" d="100"/>
          <a:sy n="90" d="100"/>
        </p:scale>
        <p:origin x="135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3CF5F-F7FE-4C60-8BAA-96CD33FF18AC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5D06F-C5C6-4EC7-8C43-7BC9C83055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542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為什麼會選擇這個套件呢</a:t>
            </a:r>
          </a:p>
          <a:p>
            <a:r>
              <a:rPr lang="en-US" altLang="zh-TW" dirty="0"/>
              <a:t>1. </a:t>
            </a:r>
            <a:r>
              <a:rPr lang="zh-TW" altLang="en-US" dirty="0"/>
              <a:t>最多人使用</a:t>
            </a:r>
          </a:p>
          <a:p>
            <a:r>
              <a:rPr lang="en-US" altLang="zh-TW" dirty="0"/>
              <a:t>2. </a:t>
            </a:r>
            <a:r>
              <a:rPr lang="zh-TW" altLang="en-US" dirty="0"/>
              <a:t>開源免費</a:t>
            </a:r>
          </a:p>
          <a:p>
            <a:r>
              <a:rPr lang="en-US" altLang="zh-TW" dirty="0"/>
              <a:t>3. </a:t>
            </a:r>
            <a:r>
              <a:rPr lang="zh-TW" altLang="en-US" dirty="0"/>
              <a:t>功能完善</a:t>
            </a:r>
          </a:p>
          <a:p>
            <a:r>
              <a:rPr lang="en-US" altLang="zh-TW" dirty="0"/>
              <a:t>4. </a:t>
            </a:r>
            <a:r>
              <a:rPr lang="zh-TW" altLang="en-US" dirty="0"/>
              <a:t>操作  文件  簡單易懂</a:t>
            </a:r>
          </a:p>
          <a:p>
            <a:r>
              <a:rPr lang="en-US" altLang="zh-TW" dirty="0"/>
              <a:t>5. </a:t>
            </a:r>
            <a:r>
              <a:rPr lang="zh-TW" altLang="en-US" dirty="0"/>
              <a:t>討論區文章豐富 </a:t>
            </a:r>
            <a:r>
              <a:rPr lang="en-US" altLang="zh-TW" dirty="0"/>
              <a:t>(</a:t>
            </a:r>
            <a:r>
              <a:rPr lang="zh-TW" altLang="en-US" dirty="0"/>
              <a:t>因為發展久 網路有比較多教學資源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 </a:t>
            </a:r>
          </a:p>
          <a:p>
            <a:r>
              <a:rPr lang="zh-TW" altLang="en-US" dirty="0"/>
              <a:t>接下來會介紹其中幾種功能  並做了簡單的介面來示範練習這個套件</a:t>
            </a:r>
          </a:p>
          <a:p>
            <a:r>
              <a:rPr lang="en-US" altLang="zh-TW" dirty="0"/>
              <a:t>1. </a:t>
            </a:r>
            <a:r>
              <a:rPr lang="zh-TW" altLang="en-US" dirty="0"/>
              <a:t>調音</a:t>
            </a:r>
          </a:p>
          <a:p>
            <a:r>
              <a:rPr lang="en-US" altLang="zh-TW" dirty="0"/>
              <a:t>2. </a:t>
            </a:r>
            <a:r>
              <a:rPr lang="zh-TW" altLang="en-US" dirty="0"/>
              <a:t>播放音頻</a:t>
            </a:r>
          </a:p>
          <a:p>
            <a:r>
              <a:rPr lang="en-US" altLang="zh-TW" dirty="0"/>
              <a:t>3. </a:t>
            </a:r>
            <a:r>
              <a:rPr lang="zh-TW" altLang="en-US" dirty="0"/>
              <a:t>讀取音檔 升降</a:t>
            </a:r>
            <a:r>
              <a:rPr lang="en-US" altLang="zh-TW" dirty="0"/>
              <a:t>key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816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為何會選擇這個套件：</a:t>
            </a:r>
            <a:endParaRPr lang="en-US" altLang="zh-TW" dirty="0"/>
          </a:p>
          <a:p>
            <a:r>
              <a:rPr lang="en-US" altLang="zh-TW" dirty="0"/>
              <a:t>1.</a:t>
            </a:r>
            <a:r>
              <a:rPr lang="zh-TW" altLang="en-US" dirty="0"/>
              <a:t> 免費開源</a:t>
            </a:r>
            <a:r>
              <a:rPr lang="en-US" altLang="zh-TW" dirty="0"/>
              <a:t>,</a:t>
            </a:r>
            <a:r>
              <a:rPr lang="zh-TW" altLang="en-US" dirty="0"/>
              <a:t>技術成熟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 幾乎能處理音訊處裡各種方面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 </a:t>
            </a:r>
            <a:r>
              <a:rPr lang="en-US" altLang="zh-TW" dirty="0"/>
              <a:t>API</a:t>
            </a:r>
            <a:r>
              <a:rPr lang="zh-TW" altLang="en-US" dirty="0"/>
              <a:t>被封裝得很簡單</a:t>
            </a:r>
            <a:r>
              <a:rPr lang="en-US" altLang="zh-TW" dirty="0"/>
              <a:t>,</a:t>
            </a:r>
            <a:r>
              <a:rPr lang="zh-TW" altLang="en-US" dirty="0"/>
              <a:t>易上手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 教學文件詳細清楚</a:t>
            </a:r>
            <a:br>
              <a:rPr lang="en-US" altLang="zh-TW" dirty="0"/>
            </a:br>
            <a:r>
              <a:rPr lang="zh-TW" altLang="en-US" dirty="0"/>
              <a:t>用到：</a:t>
            </a:r>
            <a:br>
              <a:rPr lang="en-US" altLang="zh-TW" dirty="0"/>
            </a:br>
            <a:r>
              <a:rPr lang="en-US" altLang="zh-TW" dirty="0"/>
              <a:t>1.</a:t>
            </a:r>
            <a:r>
              <a:rPr lang="zh-TW" altLang="en-US" dirty="0"/>
              <a:t> </a:t>
            </a:r>
            <a:r>
              <a:rPr lang="en-US" altLang="zh-TW" dirty="0" err="1"/>
              <a:t>WaveInEvent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收音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 </a:t>
            </a:r>
            <a:r>
              <a:rPr lang="en-US" altLang="zh-TW" dirty="0" err="1"/>
              <a:t>WaveOutEvent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放音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3. </a:t>
            </a:r>
            <a:r>
              <a:rPr lang="en-US" altLang="zh-TW" dirty="0" err="1"/>
              <a:t>BufferedWaveProvider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即時緩衝區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56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</a:t>
            </a:r>
            <a:r>
              <a:rPr lang="zh-TW" altLang="en-US" dirty="0"/>
              <a:t>公式為</a:t>
            </a:r>
            <a:r>
              <a:rPr lang="en-US" altLang="zh-TW" dirty="0"/>
              <a:t>MIDI</a:t>
            </a:r>
            <a:r>
              <a:rPr lang="zh-TW" altLang="en-US" dirty="0"/>
              <a:t>所提出的標準協定公式</a:t>
            </a:r>
            <a:endParaRPr lang="en-US" altLang="zh-TW" dirty="0"/>
          </a:p>
          <a:p>
            <a:r>
              <a:rPr lang="en-US" altLang="zh-TW" dirty="0"/>
              <a:t>12</a:t>
            </a:r>
            <a:r>
              <a:rPr lang="zh-TW" altLang="en-US" dirty="0"/>
              <a:t>平均律的起源為人耳的分辨率和諧度</a:t>
            </a:r>
            <a:br>
              <a:rPr lang="en-US" altLang="zh-TW" dirty="0"/>
            </a:br>
            <a:r>
              <a:rPr lang="zh-TW" altLang="en-US" dirty="0"/>
              <a:t>同樣聽</a:t>
            </a:r>
            <a:r>
              <a:rPr lang="en-US" altLang="zh-TW" dirty="0"/>
              <a:t>A3(220</a:t>
            </a:r>
            <a:r>
              <a:rPr lang="zh-TW" altLang="en-US" dirty="0"/>
              <a:t> </a:t>
            </a:r>
            <a:r>
              <a:rPr lang="en-US" altLang="zh-TW" dirty="0"/>
              <a:t>Hz), A4(440 Hz), A5(880</a:t>
            </a:r>
            <a:r>
              <a:rPr lang="zh-TW" altLang="en-US" dirty="0"/>
              <a:t> </a:t>
            </a:r>
            <a:r>
              <a:rPr lang="en-US" altLang="zh-TW" dirty="0"/>
              <a:t>Hz)</a:t>
            </a:r>
          </a:p>
          <a:p>
            <a:r>
              <a:rPr lang="zh-TW" altLang="en-US" dirty="0"/>
              <a:t>會發現雖然</a:t>
            </a:r>
            <a:r>
              <a:rPr lang="en-US" altLang="zh-TW" dirty="0"/>
              <a:t>A3-A4, A4-A5</a:t>
            </a:r>
            <a:r>
              <a:rPr lang="zh-TW" altLang="en-US" dirty="0"/>
              <a:t>聽起來音程差似乎是一樣的都是差八度</a:t>
            </a:r>
            <a:endParaRPr lang="en-US" altLang="zh-TW" dirty="0"/>
          </a:p>
          <a:p>
            <a:r>
              <a:rPr lang="zh-TW" altLang="en-US" dirty="0"/>
              <a:t>但實際上</a:t>
            </a:r>
            <a:r>
              <a:rPr lang="en-US" altLang="zh-TW" dirty="0"/>
              <a:t>A4-A5</a:t>
            </a:r>
            <a:r>
              <a:rPr lang="zh-TW" altLang="en-US" dirty="0"/>
              <a:t>的頻率差是</a:t>
            </a:r>
            <a:r>
              <a:rPr lang="en-US" altLang="zh-TW" dirty="0"/>
              <a:t>A3-A4</a:t>
            </a:r>
            <a:r>
              <a:rPr lang="zh-TW" altLang="en-US" dirty="0"/>
              <a:t>的兩倍</a:t>
            </a:r>
            <a:br>
              <a:rPr lang="en-US" altLang="zh-TW" dirty="0"/>
            </a:br>
            <a:r>
              <a:rPr lang="zh-TW" altLang="en-US" dirty="0"/>
              <a:t>也就是說在單位時間如果想要讓音高聽起來是線性升高</a:t>
            </a:r>
            <a:endParaRPr lang="en-US" altLang="zh-TW" dirty="0"/>
          </a:p>
          <a:p>
            <a:r>
              <a:rPr lang="zh-TW" altLang="en-US" dirty="0"/>
              <a:t>則頻率要對數增加</a:t>
            </a:r>
            <a:br>
              <a:rPr lang="en-US" altLang="zh-TW" dirty="0"/>
            </a:br>
            <a:r>
              <a:rPr lang="en-US" altLang="zh-TW" dirty="0"/>
              <a:t>“</a:t>
            </a:r>
            <a:r>
              <a:rPr lang="zh-TW" altLang="en-US" dirty="0"/>
              <a:t>十二平均律</a:t>
            </a:r>
            <a:r>
              <a:rPr lang="en-US" altLang="zh-TW" dirty="0"/>
              <a:t>”</a:t>
            </a:r>
            <a:r>
              <a:rPr lang="zh-TW" altLang="en-US" dirty="0"/>
              <a:t>是人耳感知力，物理學，數學之間和諧的結果，也使移調操作變得方便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音高只跟物體物理特性有關  跟能量無關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850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實際物體發出的泛音不會剛好是基頻整數倍</a:t>
            </a:r>
            <a:br>
              <a:rPr lang="en-US" altLang="zh-TW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zh-TW" altLang="en-US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會受到材質，物理特性影響</a:t>
            </a:r>
            <a:br>
              <a:rPr lang="en-US" altLang="zh-TW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en-US" altLang="zh-TW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ex: </a:t>
            </a:r>
            <a:r>
              <a:rPr lang="zh-TW" altLang="en-US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鋼琴有高音更高，低音更低的特性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085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#</a:t>
            </a:r>
            <a:r>
              <a:rPr lang="zh-TW" altLang="en-US" dirty="0"/>
              <a:t>：</a:t>
            </a:r>
            <a:r>
              <a:rPr lang="en-US" altLang="zh-TW" dirty="0"/>
              <a:t>Sharpe</a:t>
            </a:r>
          </a:p>
          <a:p>
            <a:r>
              <a:rPr lang="en-US" altLang="zh-TW" dirty="0"/>
              <a:t>b</a:t>
            </a:r>
            <a:r>
              <a:rPr lang="zh-TW" altLang="en-US" dirty="0"/>
              <a:t>：</a:t>
            </a:r>
            <a:r>
              <a:rPr lang="en-US" altLang="zh-TW" dirty="0"/>
              <a:t>Flat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549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GetCapabilities</a:t>
            </a:r>
            <a:r>
              <a:rPr lang="zh-TW" altLang="en-US" dirty="0"/>
              <a:t>：這個方法</a:t>
            </a:r>
            <a:r>
              <a:rPr lang="en-US" altLang="zh-TW" dirty="0"/>
              <a:t>return</a:t>
            </a:r>
            <a:r>
              <a:rPr lang="zh-TW" altLang="en-US" dirty="0"/>
              <a:t>目前電腦有哪些收音設備</a:t>
            </a:r>
            <a:endParaRPr lang="en-US" altLang="zh-TW" dirty="0"/>
          </a:p>
          <a:p>
            <a:r>
              <a:rPr lang="en-US" altLang="zh-TW" dirty="0" err="1"/>
              <a:t>WaveInEvent</a:t>
            </a:r>
            <a:r>
              <a:rPr lang="zh-TW" altLang="en-US" dirty="0"/>
              <a:t>：傳入收音設備</a:t>
            </a:r>
            <a:r>
              <a:rPr lang="en-US" altLang="zh-TW" dirty="0"/>
              <a:t>Index</a:t>
            </a:r>
            <a:r>
              <a:rPr lang="zh-TW" altLang="en-US" dirty="0"/>
              <a:t>值建立收音物件</a:t>
            </a:r>
            <a:endParaRPr lang="en-US" altLang="zh-TW" dirty="0"/>
          </a:p>
          <a:p>
            <a:r>
              <a:rPr lang="en-US" altLang="zh-TW" dirty="0" err="1"/>
              <a:t>WaveFormat</a:t>
            </a:r>
            <a:r>
              <a:rPr lang="zh-TW" altLang="en-US" dirty="0"/>
              <a:t>：設定收音格式</a:t>
            </a:r>
            <a:br>
              <a:rPr lang="en-US" altLang="zh-TW" dirty="0"/>
            </a:br>
            <a:r>
              <a:rPr lang="en-US" altLang="zh-TW" dirty="0" err="1"/>
              <a:t>DataAvailable</a:t>
            </a:r>
            <a:r>
              <a:rPr lang="zh-TW" altLang="en-US" dirty="0"/>
              <a:t>：訂閱自訂分析頻率方法</a:t>
            </a:r>
            <a:endParaRPr lang="en-US" altLang="zh-TW" dirty="0"/>
          </a:p>
          <a:p>
            <a:r>
              <a:rPr lang="en-US" altLang="zh-TW" dirty="0" err="1"/>
              <a:t>bwProvider</a:t>
            </a:r>
            <a:r>
              <a:rPr lang="zh-TW" altLang="en-US" dirty="0"/>
              <a:t>：緩衝區 可限制收音位元區塊大小 超過就會</a:t>
            </a:r>
            <a:endParaRPr lang="en-US" altLang="zh-TW" dirty="0"/>
          </a:p>
          <a:p>
            <a:r>
              <a:rPr lang="en-US" altLang="zh-TW" dirty="0" err="1"/>
              <a:t>StartRecording</a:t>
            </a:r>
            <a:r>
              <a:rPr lang="zh-TW" altLang="en-US" dirty="0"/>
              <a:t>：執行所有訂閱方法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91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處理邏輯</a:t>
            </a:r>
            <a:r>
              <a:rPr lang="en-US" altLang="zh-TW" dirty="0"/>
              <a:t>(</a:t>
            </a:r>
            <a:r>
              <a:rPr lang="zh-TW" altLang="en-US" dirty="0"/>
              <a:t>左</a:t>
            </a:r>
            <a:r>
              <a:rPr lang="en-US" altLang="zh-TW" dirty="0"/>
              <a:t>)</a:t>
            </a:r>
            <a:r>
              <a:rPr lang="zh-TW" altLang="en-US" dirty="0"/>
              <a:t>：</a:t>
            </a:r>
            <a:endParaRPr lang="en-US" altLang="zh-TW" dirty="0"/>
          </a:p>
          <a:p>
            <a:r>
              <a:rPr lang="zh-TW" altLang="en-US" dirty="0"/>
              <a:t>將</a:t>
            </a:r>
            <a:r>
              <a:rPr lang="en-US" altLang="zh-TW" dirty="0" err="1"/>
              <a:t>WaveInEvent</a:t>
            </a:r>
            <a:r>
              <a:rPr lang="zh-TW" altLang="en-US" dirty="0"/>
              <a:t>測量到的</a:t>
            </a:r>
            <a:r>
              <a:rPr lang="en-US" altLang="zh-TW" dirty="0"/>
              <a:t>Frequency</a:t>
            </a:r>
            <a:r>
              <a:rPr lang="zh-TW" altLang="en-US" dirty="0"/>
              <a:t>傳給這個方法</a:t>
            </a:r>
            <a:br>
              <a:rPr lang="en-US" altLang="zh-TW" dirty="0"/>
            </a:br>
            <a:r>
              <a:rPr lang="zh-TW" altLang="en-US" dirty="0"/>
              <a:t>這個方法會先</a:t>
            </a:r>
            <a:r>
              <a:rPr lang="en-US" altLang="zh-TW" dirty="0"/>
              <a:t>Foreach</a:t>
            </a:r>
            <a:r>
              <a:rPr lang="zh-TW" altLang="en-US" dirty="0"/>
              <a:t>整個基頻定義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然後在把</a:t>
            </a:r>
            <a:r>
              <a:rPr lang="en-US" altLang="zh-TW" dirty="0"/>
              <a:t>Frequency</a:t>
            </a:r>
            <a:r>
              <a:rPr lang="zh-TW" altLang="en-US" dirty="0"/>
              <a:t>跟基頻</a:t>
            </a:r>
            <a:r>
              <a:rPr lang="en-US" altLang="zh-TW" dirty="0"/>
              <a:t>(</a:t>
            </a:r>
            <a:r>
              <a:rPr lang="zh-TW" altLang="en-US" dirty="0"/>
              <a:t>例如 </a:t>
            </a:r>
            <a:r>
              <a:rPr lang="en-US" altLang="zh-TW" dirty="0"/>
              <a:t>C0)</a:t>
            </a:r>
            <a:r>
              <a:rPr lang="zh-TW" altLang="en-US" dirty="0"/>
              <a:t>做音程差計算</a:t>
            </a:r>
            <a:br>
              <a:rPr lang="en-US" altLang="zh-TW" dirty="0"/>
            </a:br>
            <a:r>
              <a:rPr lang="zh-TW" altLang="en-US" dirty="0"/>
              <a:t>找基頻定義的第一個 </a:t>
            </a:r>
            <a:r>
              <a:rPr lang="en-US" altLang="zh-TW" dirty="0"/>
              <a:t>key &amp; value pair  </a:t>
            </a:r>
            <a:r>
              <a:rPr lang="zh-TW" altLang="en-US" dirty="0"/>
              <a:t>如果音程差</a:t>
            </a:r>
            <a:r>
              <a:rPr lang="en-US" altLang="zh-TW" dirty="0"/>
              <a:t>&gt;50</a:t>
            </a:r>
            <a:r>
              <a:rPr lang="zh-TW" altLang="en-US" dirty="0"/>
              <a:t>或</a:t>
            </a:r>
            <a:r>
              <a:rPr lang="en-US" altLang="zh-TW" dirty="0"/>
              <a:t>&lt;-50(cent)</a:t>
            </a:r>
            <a:r>
              <a:rPr lang="zh-TW" altLang="en-US" dirty="0"/>
              <a:t>就將基頻翻倍跟下一個八度的音</a:t>
            </a:r>
            <a:r>
              <a:rPr lang="en-US" altLang="zh-TW" dirty="0"/>
              <a:t>(</a:t>
            </a:r>
            <a:r>
              <a:rPr lang="zh-TW" altLang="en-US" dirty="0"/>
              <a:t>例如 </a:t>
            </a:r>
            <a:r>
              <a:rPr lang="en-US" altLang="zh-TW" dirty="0"/>
              <a:t>C1)</a:t>
            </a:r>
            <a:r>
              <a:rPr lang="zh-TW" altLang="en-US" dirty="0"/>
              <a:t>做計算</a:t>
            </a:r>
            <a:br>
              <a:rPr lang="en-US" altLang="zh-TW" dirty="0"/>
            </a:br>
            <a:r>
              <a:rPr lang="zh-TW" altLang="en-US" dirty="0"/>
              <a:t>直到找到音程差介於</a:t>
            </a:r>
            <a:r>
              <a:rPr lang="en-US" altLang="zh-TW" dirty="0"/>
              <a:t>-50~50(cent)</a:t>
            </a:r>
            <a:r>
              <a:rPr lang="zh-TW" altLang="en-US" dirty="0"/>
              <a:t>之間，即為找到該頻率</a:t>
            </a:r>
            <a:br>
              <a:rPr lang="en-US" altLang="zh-TW" dirty="0"/>
            </a:br>
            <a:r>
              <a:rPr lang="zh-TW" altLang="en-US" dirty="0"/>
              <a:t>注意：先對比所有八度的同一音名，才會對比下一個音名</a:t>
            </a:r>
            <a:br>
              <a:rPr lang="en-US" altLang="zh-TW" dirty="0"/>
            </a:br>
            <a:r>
              <a:rPr lang="en-US" altLang="zh-TW" dirty="0"/>
              <a:t>chat</a:t>
            </a:r>
            <a:r>
              <a:rPr lang="zh-TW" altLang="en-US" dirty="0"/>
              <a:t> </a:t>
            </a:r>
            <a:r>
              <a:rPr lang="en-US" altLang="zh-TW" dirty="0" err="1"/>
              <a:t>gpt</a:t>
            </a:r>
            <a:r>
              <a:rPr lang="zh-TW" altLang="en-US" dirty="0"/>
              <a:t> 給的</a:t>
            </a:r>
            <a:r>
              <a:rPr lang="en-US" altLang="zh-TW" dirty="0"/>
              <a:t>(</a:t>
            </a:r>
            <a:r>
              <a:rPr lang="zh-TW" altLang="en-US" dirty="0"/>
              <a:t>右</a:t>
            </a:r>
            <a:r>
              <a:rPr lang="en-US" altLang="zh-TW" dirty="0"/>
              <a:t>)</a:t>
            </a:r>
            <a:r>
              <a:rPr lang="zh-TW" altLang="en-US" dirty="0"/>
              <a:t>則相反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如果目標音頻較低：</a:t>
            </a:r>
            <a:br>
              <a:rPr lang="en-US" altLang="zh-TW" dirty="0"/>
            </a:br>
            <a:r>
              <a:rPr lang="zh-TW" altLang="en-US" b="1" dirty="0"/>
              <a:t>方法 </a:t>
            </a:r>
            <a:r>
              <a:rPr lang="en-US" altLang="zh-TW" b="1" dirty="0"/>
              <a:t>1</a:t>
            </a:r>
            <a:r>
              <a:rPr lang="zh-TW" altLang="en-US" dirty="0"/>
              <a:t>（先找八度）更快，因為它能快速退出外層八度循環。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b="1" dirty="0"/>
              <a:t>方法 </a:t>
            </a:r>
            <a:r>
              <a:rPr lang="en-US" altLang="zh-TW" b="1" dirty="0"/>
              <a:t>2</a:t>
            </a:r>
            <a:r>
              <a:rPr lang="zh-TW" altLang="en-US" dirty="0"/>
              <a:t>（先找音）會先遍歷完整個音名集合，可能多做一些不必要的計算。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如果目標音頻較高：</a:t>
            </a:r>
            <a:br>
              <a:rPr lang="en-US" altLang="zh-TW" dirty="0"/>
            </a:br>
            <a:r>
              <a:rPr lang="zh-TW" altLang="en-US" b="1" dirty="0"/>
              <a:t>方法 </a:t>
            </a:r>
            <a:r>
              <a:rPr lang="en-US" altLang="zh-TW" b="1" dirty="0"/>
              <a:t>2</a:t>
            </a:r>
            <a:r>
              <a:rPr lang="zh-TW" altLang="en-US" dirty="0"/>
              <a:t> 可能稍快，因為它能快速遍歷較高音頻的八度集合。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5592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吉他調音</a:t>
            </a:r>
            <a:endParaRPr lang="en-US" altLang="zh-TW" dirty="0"/>
          </a:p>
          <a:p>
            <a:r>
              <a:rPr lang="zh-TW" altLang="en-US" dirty="0"/>
              <a:t>一般市面上的調音器</a:t>
            </a:r>
            <a:br>
              <a:rPr lang="en-US" altLang="zh-TW" dirty="0"/>
            </a:br>
            <a:r>
              <a:rPr lang="zh-TW" altLang="en-US" dirty="0"/>
              <a:t>準度大概都在</a:t>
            </a:r>
            <a:r>
              <a:rPr lang="en-US" altLang="zh-TW" dirty="0"/>
              <a:t>+-5~10</a:t>
            </a:r>
            <a:r>
              <a:rPr lang="zh-TW" altLang="en-US" dirty="0"/>
              <a:t>音分</a:t>
            </a:r>
            <a:br>
              <a:rPr lang="en-US" altLang="zh-TW" dirty="0"/>
            </a:br>
            <a:r>
              <a:rPr lang="en-US" altLang="zh-TW" dirty="0"/>
              <a:t>A4</a:t>
            </a:r>
            <a:r>
              <a:rPr lang="zh-TW" altLang="en-US" dirty="0"/>
              <a:t>是</a:t>
            </a:r>
            <a:r>
              <a:rPr lang="en-US" altLang="zh-TW" dirty="0"/>
              <a:t>440</a:t>
            </a:r>
            <a:r>
              <a:rPr lang="zh-TW" altLang="en-US" dirty="0"/>
              <a:t>  測到</a:t>
            </a:r>
            <a:r>
              <a:rPr lang="en-US" altLang="zh-TW" dirty="0"/>
              <a:t>441</a:t>
            </a:r>
            <a:r>
              <a:rPr lang="zh-TW" altLang="en-US" dirty="0"/>
              <a:t>是因為物理問題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9395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安靜環境下的人聲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6081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一般環境下</a:t>
            </a:r>
            <a:endParaRPr lang="en-US" altLang="zh-TW" dirty="0"/>
          </a:p>
          <a:p>
            <a:r>
              <a:rPr lang="zh-TW" altLang="en-US" dirty="0"/>
              <a:t>容易收到高頻的音</a:t>
            </a:r>
            <a:br>
              <a:rPr lang="en-US" altLang="zh-TW" dirty="0"/>
            </a:br>
            <a:r>
              <a:rPr lang="zh-TW" altLang="en-US" dirty="0"/>
              <a:t>需要透過濾波才能解決</a:t>
            </a:r>
            <a:endParaRPr lang="en-US" altLang="zh-TW" dirty="0"/>
          </a:p>
          <a:p>
            <a:r>
              <a:rPr lang="zh-TW" altLang="en-US" dirty="0"/>
              <a:t>濾波主要有兩種方式：</a:t>
            </a:r>
            <a:endParaRPr lang="en-US" altLang="zh-TW" dirty="0"/>
          </a:p>
          <a:p>
            <a:r>
              <a:rPr lang="en-US" altLang="zh-TW" dirty="0"/>
              <a:t>1.</a:t>
            </a:r>
            <a:r>
              <a:rPr lang="zh-TW" altLang="en-US" dirty="0"/>
              <a:t> 直接設閥值 </a:t>
            </a:r>
            <a:r>
              <a:rPr lang="en-US" altLang="zh-TW" dirty="0"/>
              <a:t>2.</a:t>
            </a:r>
            <a:r>
              <a:rPr lang="zh-TW" altLang="en-US" dirty="0"/>
              <a:t> 傅立葉轉換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6005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WaveOutEvent</a:t>
            </a:r>
            <a:r>
              <a:rPr lang="zh-TW" altLang="en-US" dirty="0"/>
              <a:t>：傳入放音設備</a:t>
            </a:r>
            <a:r>
              <a:rPr lang="en-US" altLang="zh-TW" dirty="0"/>
              <a:t>index</a:t>
            </a:r>
            <a:r>
              <a:rPr lang="zh-TW" altLang="en-US" dirty="0"/>
              <a:t>值建立放音物件</a:t>
            </a:r>
            <a:endParaRPr lang="en-US" altLang="zh-TW" dirty="0"/>
          </a:p>
          <a:p>
            <a:r>
              <a:rPr lang="en-US" altLang="zh-TW" dirty="0" err="1"/>
              <a:t>SignalGenerator</a:t>
            </a:r>
            <a:r>
              <a:rPr lang="zh-TW" altLang="en-US" dirty="0"/>
              <a:t>：訊號產生器</a:t>
            </a:r>
            <a:r>
              <a:rPr lang="en-US" altLang="zh-TW" dirty="0"/>
              <a:t>, </a:t>
            </a:r>
            <a:r>
              <a:rPr lang="zh-TW" altLang="en-US" dirty="0"/>
              <a:t>設定波型</a:t>
            </a:r>
            <a:r>
              <a:rPr lang="en-US" altLang="zh-TW" dirty="0"/>
              <a:t>(Sin </a:t>
            </a:r>
            <a:r>
              <a:rPr lang="zh-TW" altLang="en-US" dirty="0"/>
              <a:t>正弦波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fn</a:t>
            </a:r>
            <a:r>
              <a:rPr lang="en-US" altLang="zh-TW" dirty="0"/>
              <a:t> = f0 * 2^n</a:t>
            </a:r>
            <a:br>
              <a:rPr lang="en-US" altLang="zh-TW" dirty="0"/>
            </a:br>
            <a:r>
              <a:rPr lang="zh-TW" altLang="en-US" dirty="0"/>
              <a:t>做成鋼琴只是示意音高</a:t>
            </a:r>
            <a:br>
              <a:rPr lang="en-US" altLang="zh-TW" dirty="0"/>
            </a:br>
            <a:r>
              <a:rPr lang="zh-TW" altLang="en-US" dirty="0"/>
              <a:t>實際上如果要發出類似鋼琴的聲音</a:t>
            </a:r>
            <a:br>
              <a:rPr lang="en-US" altLang="zh-TW" dirty="0"/>
            </a:br>
            <a:r>
              <a:rPr lang="zh-TW" altLang="en-US" dirty="0"/>
              <a:t>就要先準備每個音的</a:t>
            </a:r>
            <a:r>
              <a:rPr lang="en-US" altLang="zh-TW" dirty="0"/>
              <a:t>.wav</a:t>
            </a:r>
            <a:r>
              <a:rPr lang="zh-TW" altLang="en-US" dirty="0"/>
              <a:t>檔</a:t>
            </a:r>
            <a:endParaRPr lang="en-US" altLang="zh-TW" dirty="0"/>
          </a:p>
          <a:p>
            <a:r>
              <a:rPr lang="zh-TW" altLang="en-US" dirty="0"/>
              <a:t>在用</a:t>
            </a:r>
            <a:r>
              <a:rPr lang="en-US" altLang="zh-TW" dirty="0" err="1"/>
              <a:t>WaveOutEvent</a:t>
            </a:r>
            <a:r>
              <a:rPr lang="zh-TW" altLang="en-US" dirty="0"/>
              <a:t>事件播放相對應音高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5734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讀取音檔升降</a:t>
            </a:r>
            <a:r>
              <a:rPr lang="en-US" altLang="zh-TW" dirty="0"/>
              <a:t>key</a:t>
            </a:r>
            <a:r>
              <a:rPr lang="zh-TW" altLang="en-US" dirty="0"/>
              <a:t>：</a:t>
            </a:r>
            <a:br>
              <a:rPr lang="en-US" altLang="zh-TW" dirty="0"/>
            </a:br>
            <a:r>
              <a:rPr lang="zh-TW" altLang="en-US" dirty="0"/>
              <a:t>按表操課</a:t>
            </a:r>
            <a:br>
              <a:rPr lang="en-US" altLang="zh-TW" dirty="0"/>
            </a:br>
            <a:r>
              <a:rPr lang="zh-TW" altLang="en-US" dirty="0"/>
              <a:t>照著</a:t>
            </a:r>
            <a:r>
              <a:rPr lang="en-US" altLang="zh-TW" dirty="0" err="1"/>
              <a:t>Github</a:t>
            </a:r>
            <a:r>
              <a:rPr lang="zh-TW" altLang="en-US" dirty="0"/>
              <a:t>文件做</a:t>
            </a:r>
            <a:br>
              <a:rPr lang="en-US" altLang="zh-TW" dirty="0"/>
            </a:br>
            <a:r>
              <a:rPr lang="zh-TW" altLang="en-US" dirty="0"/>
              <a:t>簡單來說就是把半音</a:t>
            </a:r>
            <a:br>
              <a:rPr lang="en-US" altLang="zh-TW" dirty="0"/>
            </a:br>
            <a:r>
              <a:rPr lang="zh-TW" altLang="en-US" dirty="0"/>
              <a:t>傳給</a:t>
            </a:r>
            <a:r>
              <a:rPr lang="en-US" altLang="zh-TW" dirty="0" err="1">
                <a:effectLst/>
              </a:rPr>
              <a:t>SmbPitchShiftingSampleProvider</a:t>
            </a:r>
            <a:r>
              <a:rPr lang="zh-TW" altLang="en-US" dirty="0">
                <a:effectLst/>
              </a:rPr>
              <a:t>物件</a:t>
            </a:r>
            <a:br>
              <a:rPr lang="en-US" altLang="zh-TW" dirty="0">
                <a:effectLst/>
              </a:rPr>
            </a:br>
            <a:r>
              <a:rPr lang="zh-TW" altLang="en-US" dirty="0">
                <a:effectLst/>
              </a:rPr>
              <a:t>而這個物件包裝了傅立葉轉換</a:t>
            </a:r>
            <a:br>
              <a:rPr lang="en-US" altLang="zh-TW" dirty="0">
                <a:effectLst/>
              </a:rPr>
            </a:br>
            <a:r>
              <a:rPr lang="zh-TW" altLang="en-US" dirty="0">
                <a:effectLst/>
              </a:rPr>
              <a:t>再用</a:t>
            </a:r>
            <a:r>
              <a:rPr lang="en-US" altLang="zh-TW" dirty="0" err="1">
                <a:effectLst/>
              </a:rPr>
              <a:t>waveout</a:t>
            </a:r>
            <a:r>
              <a:rPr lang="zh-TW" altLang="en-US" dirty="0">
                <a:effectLst/>
              </a:rPr>
              <a:t>初始化播放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8781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音分範圍：</a:t>
            </a:r>
            <a:r>
              <a:rPr lang="en-US" altLang="zh-TW" dirty="0"/>
              <a:t>5</a:t>
            </a:r>
            <a:r>
              <a:rPr lang="zh-TW" altLang="en-US" dirty="0"/>
              <a:t> </a:t>
            </a:r>
            <a:r>
              <a:rPr lang="en-US" altLang="zh-TW" dirty="0"/>
              <a:t>cents</a:t>
            </a:r>
            <a:br>
              <a:rPr lang="en-US" altLang="zh-TW" dirty="0"/>
            </a:br>
            <a:r>
              <a:rPr lang="zh-TW" altLang="en-US" dirty="0"/>
              <a:t>之後有閒暇時間的話想要做能夠隨機發出音頻</a:t>
            </a:r>
            <a:br>
              <a:rPr lang="en-US" altLang="zh-TW" dirty="0"/>
            </a:br>
            <a:r>
              <a:rPr lang="zh-TW" altLang="en-US" dirty="0"/>
              <a:t>然後讓使用者猜是哪一個音</a:t>
            </a:r>
            <a:br>
              <a:rPr lang="en-US" altLang="zh-TW" dirty="0"/>
            </a:br>
            <a:r>
              <a:rPr lang="zh-TW" altLang="en-US" dirty="0"/>
              <a:t>訓練音感用的應用</a:t>
            </a:r>
            <a:br>
              <a:rPr lang="en-US" altLang="zh-TW" dirty="0"/>
            </a:br>
            <a:r>
              <a:rPr lang="zh-TW" altLang="en-US" dirty="0"/>
              <a:t>目前市面上有類似的</a:t>
            </a:r>
            <a:r>
              <a:rPr lang="en-US" altLang="zh-TW" dirty="0"/>
              <a:t>APP </a:t>
            </a:r>
            <a:br>
              <a:rPr lang="en-US" altLang="zh-TW" dirty="0"/>
            </a:br>
            <a:r>
              <a:rPr lang="zh-TW" altLang="en-US" dirty="0"/>
              <a:t>但是通常答錯一次就會給提示了</a:t>
            </a:r>
            <a:br>
              <a:rPr lang="en-US" altLang="zh-TW" dirty="0"/>
            </a:br>
            <a:r>
              <a:rPr lang="zh-TW" altLang="en-US" dirty="0"/>
              <a:t>所以我想做的是至少能讓人錯</a:t>
            </a:r>
            <a:r>
              <a:rPr lang="en-US" altLang="zh-TW" dirty="0"/>
              <a:t>2-3</a:t>
            </a:r>
            <a:r>
              <a:rPr lang="zh-TW" altLang="en-US" dirty="0"/>
              <a:t>次以後再給提示</a:t>
            </a:r>
            <a:br>
              <a:rPr lang="en-US" altLang="zh-TW" dirty="0"/>
            </a:br>
            <a:r>
              <a:rPr lang="zh-TW" altLang="en-US" dirty="0"/>
              <a:t>慢慢提高準確度比較不會讓人勸退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8316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92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2534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2700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049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786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864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5024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076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zh-TW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0184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9614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052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792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822A52-CB54-4445-AC34-F501DA2D4712}" type="datetimeFigureOut">
              <a:rPr lang="zh-TW" altLang="en-US" smtClean="0"/>
              <a:t>2025/1/7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11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github.com/naudio/NAudio?tab=readme-ov-fil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mailto:https://timag-shield.blogspot.com/2017/04/thinkdsp_82.html" TargetMode="External"/><Relationship Id="rId3" Type="http://schemas.openxmlformats.org/officeDocument/2006/relationships/hyperlink" Target="mailto:https://zh.wikipedia.org/zh-tw/%E9%9F%B3%E9%AB%98" TargetMode="External"/><Relationship Id="rId7" Type="http://schemas.openxmlformats.org/officeDocument/2006/relationships/hyperlink" Target="mailto:https://nicechord.com/post/major-and-minor-modes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https://github.com/naudio/NAudio?tab=readme-ov-file" TargetMode="External"/><Relationship Id="rId5" Type="http://schemas.openxmlformats.org/officeDocument/2006/relationships/hyperlink" Target="mailto:https://zh.wikipedia.org/zh-tw/%E4%BA%BA%E5%A3%B0%E9%9F%B3%E5%9F%9F" TargetMode="External"/><Relationship Id="rId10" Type="http://schemas.openxmlformats.org/officeDocument/2006/relationships/hyperlink" Target="mailto:https://sampld.app/" TargetMode="External"/><Relationship Id="rId4" Type="http://schemas.openxmlformats.org/officeDocument/2006/relationships/hyperlink" Target="mailto:https://zh.wikipedia.org/zh-" TargetMode="External"/><Relationship Id="rId9" Type="http://schemas.openxmlformats.org/officeDocument/2006/relationships/hyperlink" Target="mailto:https://stackoverflow.com/questions/tagged/naudio?tab=newest&amp;page=1&amp;pagesize=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168A6BEB-3BEB-4E05-9369-87FB26EC3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767203"/>
            <a:ext cx="9144000" cy="187484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NAudio is an open source .NET audio library written </a:t>
            </a:r>
          </a:p>
          <a:p>
            <a:r>
              <a:rPr lang="en-US" altLang="zh-TW" dirty="0">
                <a:latin typeface="Consolas" panose="020B0609020204030204" pitchFamily="49" charset="0"/>
              </a:rPr>
              <a:t>by Mark Heath</a:t>
            </a:r>
          </a:p>
          <a:p>
            <a:r>
              <a:rPr lang="en-US" altLang="zh-TW" dirty="0">
                <a:latin typeface="Consolas" panose="020B0609020204030204" pitchFamily="49" charset="0"/>
                <a:hlinkClick r:id="rId3"/>
              </a:rPr>
              <a:t>mailto:https://github.com/naudio/NAudio?tab=readme-ov-file</a:t>
            </a:r>
            <a:endParaRPr lang="en-US" altLang="zh-TW" dirty="0">
              <a:latin typeface="Consolas" panose="020B0609020204030204" pitchFamily="49" charset="0"/>
            </a:endParaRPr>
          </a:p>
          <a:p>
            <a:endParaRPr lang="en-US" altLang="zh-TW" dirty="0">
              <a:latin typeface="Consolas" panose="020B0609020204030204" pitchFamily="49" charset="0"/>
            </a:endParaRPr>
          </a:p>
          <a:p>
            <a:r>
              <a:rPr lang="en-US" altLang="zh-TW" dirty="0">
                <a:latin typeface="Consolas" panose="020B0609020204030204" pitchFamily="49" charset="0"/>
              </a:rPr>
              <a:t>Howard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0A3553-C5CF-4B73-810D-FB2D04ABF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1" y="2066925"/>
            <a:ext cx="589597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07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0F78C9A-5C81-4655-BD85-7A8767E4E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0" y="1850827"/>
            <a:ext cx="11656053" cy="374880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34DC5B8-0A57-4772-8EF5-FF29245F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功能及應用</a:t>
            </a:r>
          </a:p>
        </p:txBody>
      </p:sp>
    </p:spTree>
    <p:extLst>
      <p:ext uri="{BB962C8B-B14F-4D97-AF65-F5344CB8AC3E}">
        <p14:creationId xmlns:p14="http://schemas.microsoft.com/office/powerpoint/2010/main" val="44994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40546-EB3B-413A-89E4-F3A1D271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基本知識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388685-382F-4E73-91BB-5EA4D4F98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國際標準音高將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A4 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定為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440(Hz)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，即為每秒震動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440 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次。</a:t>
            </a:r>
          </a:p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由以下方程式可以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A4 ( 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𝑝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=69) 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推算出整個指數性音高空間。</a:t>
            </a:r>
          </a:p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一個八度定義為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12 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半音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十二平均律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b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兩個半音定義為一個音程。</a:t>
            </a:r>
            <a:b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一個八度音程定義為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1200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音分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(cent) (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即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 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半音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= 100 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音分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</a:p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人類感知音高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音程差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是依據頻率的對數比例，而不是頻率差。</a:t>
            </a:r>
          </a:p>
          <a:p>
            <a:endParaRPr lang="en-US" altLang="zh-TW"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B6088C4-5344-435C-8646-EACA9D63C59E}"/>
                  </a:ext>
                </a:extLst>
              </p:cNvPr>
              <p:cNvSpPr txBox="1"/>
              <p:nvPr/>
            </p:nvSpPr>
            <p:spPr>
              <a:xfrm>
                <a:off x="1419426" y="4933393"/>
                <a:ext cx="4676574" cy="561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=440×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zh-TW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zh-TW" altLang="en-US" sz="2400" i="0">
                                      <a:latin typeface="Cambria Math" panose="02040503050406030204" pitchFamily="18" charset="0"/>
                                    </a:rPr>
                                    <m:t>−69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TW" altLang="en-US" sz="2400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B6088C4-5344-435C-8646-EACA9D63C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426" y="4933393"/>
                <a:ext cx="4676574" cy="5618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B3FEC1E-03AF-4602-B5CA-B3ED711EEEFF}"/>
                  </a:ext>
                </a:extLst>
              </p:cNvPr>
              <p:cNvSpPr txBox="1"/>
              <p:nvPr/>
            </p:nvSpPr>
            <p:spPr>
              <a:xfrm>
                <a:off x="6890317" y="4837371"/>
                <a:ext cx="3030657" cy="829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=1200×</m:t>
                      </m:r>
                      <m:func>
                        <m:func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24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zh-TW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B3FEC1E-03AF-4602-B5CA-B3ED711EE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317" y="4837371"/>
                <a:ext cx="3030657" cy="8298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041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27AA2B-FF89-42CE-B9E5-F2C8F9CD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泛音列</a:t>
            </a:r>
            <a:r>
              <a:rPr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(Harmonic series)</a:t>
            </a:r>
            <a:endParaRPr lang="zh-TW" altLang="en-US" b="1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A5B91E-9772-4F8E-BFEF-EB9492AC5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發聲體除了會整體震動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基音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外還會部份震動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音叉除外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，這些微小的分段震動就會形成泛音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列。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音色的成因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泛音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+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偏差音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基頻的整數倍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(2,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3,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4, 5,…)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人的大腦會自動解析基頻為音高，泛音列為音色。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sz="2400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測量音頻有可能會受到泛音及偏差音的影響。</a:t>
            </a:r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9ED7A301-E4E7-45C9-86E1-27B016537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282" y="1328394"/>
            <a:ext cx="326857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74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9DAA703-06E0-45BE-909D-672217DDC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066" y="3229947"/>
            <a:ext cx="5255665" cy="141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1643FED-07D7-4A12-986C-B07FA308904E}"/>
                  </a:ext>
                </a:extLst>
              </p:cNvPr>
              <p:cNvSpPr txBox="1"/>
              <p:nvPr/>
            </p:nvSpPr>
            <p:spPr>
              <a:xfrm>
                <a:off x="7084108" y="2451303"/>
                <a:ext cx="451226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𝐶𝑏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:</a:t>
                </a:r>
                <a:r>
                  <a:rPr lang="zh-TW" altLang="en-US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 代表</a:t>
                </a:r>
                <a:r>
                  <a:rPr lang="en-US" altLang="zh-TW" sz="240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C4</a:t>
                </a:r>
                <a:r>
                  <a:rPr lang="zh-TW" altLang="en-US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這個音高降半音。 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1643FED-07D7-4A12-986C-B07FA3089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108" y="2451303"/>
                <a:ext cx="4512262" cy="369332"/>
              </a:xfrm>
              <a:prstGeom prst="rect">
                <a:avLst/>
              </a:prstGeom>
              <a:blipFill>
                <a:blip r:embed="rId4"/>
                <a:stretch>
                  <a:fillRect l="-2432" t="-26230" r="-811" b="-491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569E197-6A37-4FFA-A110-3DBE3271A53C}"/>
                  </a:ext>
                </a:extLst>
              </p:cNvPr>
              <p:cNvSpPr txBox="1"/>
              <p:nvPr/>
            </p:nvSpPr>
            <p:spPr>
              <a:xfrm>
                <a:off x="7084106" y="2035757"/>
                <a:ext cx="451226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:</a:t>
                </a:r>
                <a:r>
                  <a:rPr lang="zh-TW" altLang="en-US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 代表</a:t>
                </a:r>
                <a:r>
                  <a:rPr lang="en-US" altLang="zh-TW" sz="240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C4</a:t>
                </a:r>
                <a:r>
                  <a:rPr lang="zh-TW" altLang="en-US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這個音高升半音。 </a:t>
                </a: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569E197-6A37-4FFA-A110-3DBE3271A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106" y="2035757"/>
                <a:ext cx="4512263" cy="369332"/>
              </a:xfrm>
              <a:prstGeom prst="rect">
                <a:avLst/>
              </a:prstGeom>
              <a:blipFill>
                <a:blip r:embed="rId5"/>
                <a:stretch>
                  <a:fillRect l="-2297" t="-27869" r="-1622" b="-47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5B4B8FE9-ECDB-427D-9AEE-E216B3F333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269" y="1132141"/>
            <a:ext cx="6382511" cy="435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0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AD999-551A-4870-9B41-82B9E184F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74493"/>
            <a:ext cx="10058400" cy="1371600"/>
          </a:xfrm>
        </p:spPr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B2119D0-3CF2-4D72-97B1-7EEF958C2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72" y="325308"/>
            <a:ext cx="11077656" cy="156211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D3C844D-8504-4409-9D2E-2D694F57F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599" y="1959135"/>
            <a:ext cx="8122801" cy="454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44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圖片 36">
            <a:extLst>
              <a:ext uri="{FF2B5EF4-FFF2-40B4-BE49-F238E27FC236}">
                <a16:creationId xmlns:a16="http://schemas.microsoft.com/office/drawing/2014/main" id="{867B3574-BEB7-4978-B815-F42C44BF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510" y="1694778"/>
            <a:ext cx="5326152" cy="485487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DE05A29-9AF8-44FD-8F20-DE0DB0A51AC0}"/>
                  </a:ext>
                </a:extLst>
              </p:cNvPr>
              <p:cNvSpPr txBox="1"/>
              <p:nvPr/>
            </p:nvSpPr>
            <p:spPr>
              <a:xfrm>
                <a:off x="7479218" y="2703718"/>
                <a:ext cx="4471569" cy="11065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zh-TW" altLang="en-US" sz="3200" i="0">
                          <a:latin typeface="Cambria Math" panose="02040503050406030204" pitchFamily="18" charset="0"/>
                        </a:rPr>
                        <m:t>=1200×</m:t>
                      </m:r>
                      <m:func>
                        <m:funcPr>
                          <m:ctrlPr>
                            <a:rPr lang="zh-TW" alt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32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zh-TW" alt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3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TW" altLang="en-US" sz="3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3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TW" altLang="en-US" sz="32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TW" altLang="en-US" sz="3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3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TW" altLang="en-US" sz="3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DE05A29-9AF8-44FD-8F20-DE0DB0A51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218" y="2703718"/>
                <a:ext cx="4471569" cy="11065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268E1E4E-6EFC-46E9-A3FE-D548CD7520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9011" y="332347"/>
            <a:ext cx="7093542" cy="1303902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EE55984-D891-4CBD-A98A-66FB26006073}"/>
              </a:ext>
            </a:extLst>
          </p:cNvPr>
          <p:cNvCxnSpPr>
            <a:cxnSpLocks/>
          </p:cNvCxnSpPr>
          <p:nvPr/>
        </p:nvCxnSpPr>
        <p:spPr>
          <a:xfrm flipH="1" flipV="1">
            <a:off x="6283842" y="2945219"/>
            <a:ext cx="1382166" cy="154540"/>
          </a:xfrm>
          <a:prstGeom prst="straightConnector1">
            <a:avLst/>
          </a:prstGeom>
          <a:ln w="50800">
            <a:solidFill>
              <a:srgbClr val="FF0000">
                <a:alpha val="70000"/>
              </a:srgbClr>
            </a:solidFill>
            <a:prstDash val="sysDash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640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096A6-4923-4348-B26B-78CFE688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4CA5B60-8C29-49C5-93C2-0455E10C2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14" y="394223"/>
            <a:ext cx="11355572" cy="6069553"/>
          </a:xfrm>
        </p:spPr>
      </p:pic>
    </p:spTree>
    <p:extLst>
      <p:ext uri="{BB962C8B-B14F-4D97-AF65-F5344CB8AC3E}">
        <p14:creationId xmlns:p14="http://schemas.microsoft.com/office/powerpoint/2010/main" val="84936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B971A0-5E52-49A4-B85B-368FCBB1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8DB95D-0DD2-4A07-B991-9E70095B1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63C3E4-9B7C-4DF6-872C-BBAB83D66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23" y="388397"/>
            <a:ext cx="11368953" cy="608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06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70468-AC48-4450-8B5D-392E2876A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0CE6E3-5D69-42C3-B948-0E8222A94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2FA868E-9D3E-4537-9E17-096C2C00B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5" y="388800"/>
            <a:ext cx="11367449" cy="608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00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AFC2DC58-B2FE-46BE-838F-28A43E6454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74" t="26794" r="1241" b="8214"/>
          <a:stretch/>
        </p:blipFill>
        <p:spPr>
          <a:xfrm>
            <a:off x="1551393" y="4944261"/>
            <a:ext cx="9089214" cy="11251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D0D272F-B8C4-456D-A0CB-69A50590F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361" y="2138023"/>
            <a:ext cx="5379874" cy="259475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3C69151-9D1E-4B87-8951-001959C10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88" y="710507"/>
            <a:ext cx="5955897" cy="378706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48F4ED9-4F9B-4F61-B4D4-08D78AE7E6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361" y="710507"/>
            <a:ext cx="5379874" cy="128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140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7D8688A-815E-4829-A8DB-F4E844741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37" y="1720949"/>
            <a:ext cx="4708132" cy="291884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74C0AC2-9DE8-4FE5-86E8-00A808CB2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95" y="984874"/>
            <a:ext cx="6970742" cy="439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04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DBD4E5-2E32-4135-A3A9-BFC3B91E1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總結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83AC9F-D36C-4C51-9F27-9095C1E13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0166" cy="4351338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一般調音器的邏輯是一定的音分範圍內都算判斷準確，因為每個設備外放或是樂器的音會有些許泛音或偏差音上的不同，非專業的收音設備可能會因為這些泛音而對不上標準音高頻率：</a:t>
            </a:r>
            <a:b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例如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A4 (440Hz)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可能就會測到偏高或是偏低，即便是由標準鋼琴發出的音。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用兩台手機交叉比對，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手機用鋼琴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APP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發出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A4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鍵，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手機測量到仍會高於 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440Hz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一點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</a:p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一般的電腦麥克風，容易收到環境或是電腦發出的高頻</a:t>
            </a:r>
            <a:r>
              <a:rPr lang="en-US" altLang="zh-TW" sz="2400" dirty="0">
                <a:latin typeface="Consolas" panose="020B0609020204030204" pitchFamily="49" charset="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Consolas" panose="020B0609020204030204" pitchFamily="49" charset="0"/>
                <a:ea typeface="標楷體" panose="03000509000000000000" pitchFamily="65" charset="-120"/>
              </a:rPr>
              <a:t>大約在第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6</a:t>
            </a:r>
            <a:r>
              <a:rPr lang="zh-TW" altLang="en-US" sz="2400" dirty="0">
                <a:latin typeface="Consolas" panose="020B0609020204030204" pitchFamily="49" charset="0"/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7</a:t>
            </a:r>
            <a:r>
              <a:rPr lang="zh-TW" altLang="en-US" sz="2400" dirty="0">
                <a:latin typeface="Consolas" panose="020B0609020204030204" pitchFamily="49" charset="0"/>
                <a:ea typeface="標楷體" panose="03000509000000000000" pitchFamily="65" charset="-120"/>
              </a:rPr>
              <a:t>組八度</a:t>
            </a:r>
            <a:r>
              <a:rPr lang="en-US" altLang="zh-TW" sz="2400" dirty="0">
                <a:latin typeface="Consolas" panose="020B0609020204030204" pitchFamily="49" charset="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Consolas" panose="020B0609020204030204" pitchFamily="49" charset="0"/>
                <a:ea typeface="標楷體" panose="03000509000000000000" pitchFamily="65" charset="-120"/>
              </a:rPr>
              <a:t>，這一點需要用程式或是硬體本身進行濾波處理。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實際上要分析歌曲調性技術複雜，需涉及到傅立葉轉換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(Fourier transform, FT)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178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148FA-0014-4A04-9A87-17E66529A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參考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47C2E4-E0FC-4B89-9770-5884C0166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199"/>
            <a:ext cx="10515600" cy="4865983"/>
          </a:xfrm>
        </p:spPr>
        <p:txBody>
          <a:bodyPr>
            <a:normAutofit/>
          </a:bodyPr>
          <a:lstStyle/>
          <a:p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Wiki</a:t>
            </a:r>
            <a:r>
              <a:rPr lang="zh-TW" altLang="en-US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b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3"/>
              </a:rPr>
              <a:t>mailto:https://zh.wikipedia.org/zh-tw/%E9%9F%B3%E9%AB%98</a:t>
            </a:r>
            <a:b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4"/>
              </a:rPr>
              <a:t>mailto:https://zh.wikipedia.org/zh-</a:t>
            </a:r>
            <a:r>
              <a:rPr lang="zh-TW" altLang="en-US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 </a:t>
            </a:r>
            <a:r>
              <a:rPr lang="en-US" altLang="zh-TW" sz="1800" dirty="0" err="1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5"/>
              </a:rPr>
              <a:t>tw</a:t>
            </a: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5"/>
              </a:rPr>
              <a:t>/%E4%BA%BA%E5%A3%B0%E9%9F%B3%E5%9F%9F</a:t>
            </a:r>
            <a:endParaRPr lang="en-US" altLang="zh-TW" sz="1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sz="1800" dirty="0" err="1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Naudio</a:t>
            </a:r>
            <a:r>
              <a:rPr lang="zh-TW" altLang="en-US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b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6"/>
              </a:rPr>
              <a:t>mailto:https://github.com/naudio/NAudio?tab=readme-ov-file</a:t>
            </a:r>
            <a:endParaRPr lang="en-US" altLang="zh-TW" sz="1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好和弦：</a:t>
            </a:r>
            <a:b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7"/>
              </a:rPr>
              <a:t>mailto:https://nicechord.com/post/major-and-minor-modes/</a:t>
            </a:r>
            <a:endParaRPr lang="en-US" altLang="zh-TW" sz="1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Think DSP: Digital Signal Processing in Python by Allen B. Downey) </a:t>
            </a:r>
            <a:r>
              <a:rPr lang="zh-TW" altLang="en-US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中譯電子書：</a:t>
            </a: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8"/>
              </a:rPr>
              <a:t>mailto:https://timag-shield.blogspot.com/2017/04/thinkdsp_82.html</a:t>
            </a:r>
            <a:endParaRPr lang="en-US" altLang="zh-TW" sz="1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sz="1800" dirty="0" err="1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Naudio</a:t>
            </a: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stack overflow</a:t>
            </a:r>
            <a:r>
              <a:rPr lang="zh-TW" altLang="en-US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9"/>
              </a:rPr>
              <a:t>mailto:https://stackoverflow.com/questions/tagged/naudio?tab=newest&amp;page=1&amp;pagesize=15</a:t>
            </a:r>
            <a:endParaRPr lang="en-US" altLang="zh-TW" sz="1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sz="1800" dirty="0" err="1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Sampld</a:t>
            </a:r>
            <a:r>
              <a:rPr lang="zh-TW" altLang="en-US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免版權音樂音效平台：</a:t>
            </a:r>
            <a:b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10"/>
              </a:rPr>
              <a:t>mailto:https://sampld.app/</a:t>
            </a:r>
            <a:endParaRPr lang="en-US" altLang="zh-TW" sz="1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2749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肥皂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肥皂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TM03457510[[fn=肥皂]]</Template>
  <TotalTime>12634</TotalTime>
  <Words>1430</Words>
  <Application>Microsoft Office PowerPoint</Application>
  <PresentationFormat>寬螢幕</PresentationFormat>
  <Paragraphs>99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標楷體</vt:lpstr>
      <vt:lpstr>Arial</vt:lpstr>
      <vt:lpstr>Calibri</vt:lpstr>
      <vt:lpstr>Cambria Math</vt:lpstr>
      <vt:lpstr>Century Gothic</vt:lpstr>
      <vt:lpstr>Consolas</vt:lpstr>
      <vt:lpstr>Garamond</vt:lpstr>
      <vt:lpstr>肥皂</vt:lpstr>
      <vt:lpstr>PowerPoint 簡報</vt:lpstr>
      <vt:lpstr>功能及應用</vt:lpstr>
      <vt:lpstr>基本知識</vt:lpstr>
      <vt:lpstr>泛音列(Harmonic series)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總結</vt:lpstr>
      <vt:lpstr>參考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Howard Gu(古皓宇)</dc:creator>
  <cp:lastModifiedBy>Howard Gu(古皓宇)</cp:lastModifiedBy>
  <cp:revision>190</cp:revision>
  <dcterms:created xsi:type="dcterms:W3CDTF">2024-12-16T07:45:55Z</dcterms:created>
  <dcterms:modified xsi:type="dcterms:W3CDTF">2025-01-07T08:32:35Z</dcterms:modified>
</cp:coreProperties>
</file>